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f3c48b3-62e2-aa08-97dc-2021d65435c7}">
          <p14:sldIdLst>
            <p14:sldId id="256"/>
          </p14:sldIdLst>
        </p14:section>
        <p14:section name="正文" id="{65aa5787-dc42-ac0e-c8c2-6e673e2669b1}">
          <p14:sldIdLst>
            <p14:sldId id="257"/>
            <p14:sldId id="258"/>
            <p14:sldId id="259"/>
            <p14:sldId id="260"/>
            <p14:sldId id="261"/>
          </p14:sldIdLst>
        </p14:section>
        <p14:section name="结尾" id="{d836eace-fcfe-e30b-0c08-994634aad854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32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E2732"/>
                </a:solidFill>
                <a:latin typeface="+mn-lt"/>
              </a:rPr>
              <a:t>乘客平均等待时间（秒，30 分钟 × 3 个种子）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贪心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 车 6 单/分</c:v>
                  </c:pt>
                  <c:pt idx="1">
                    <c:v>16 车 12 单/分</c:v>
                  </c:pt>
                  <c:pt idx="2">
                    <c:v>16 车 16 单/分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26.7</c:v>
                </c:pt>
                <c:pt idx="2">
                  <c:v>70.4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匈牙利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 车 6 单/分</c:v>
                  </c:pt>
                  <c:pt idx="1">
                    <c:v>16 车 12 单/分</c:v>
                  </c:pt>
                  <c:pt idx="2">
                    <c:v>16 车 16 单/分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28.5</c:v>
                </c:pt>
                <c:pt idx="1">
                  <c:v>24.6</c:v>
                </c:pt>
                <c:pt idx="2">
                  <c:v>38.6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A58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各位老师好，我们组的题目是缩微滴滴。我们做了一个“系统超脑”：城市里随时有人叫车，它负责派车、规划路径、管控交通；车辆可以是服务端里的数字车，也可以是 Matlab 模拟车、手机和 Gazebo 小车，它们都是数字世界里的数字孪生。整个系统一键启动之后全程自主运行，下面分五部分介绍。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系统由一个数字世界服务端和四类设备组成。网页走 HTTP，所有车辆设备走同一套 TCP 协议：注册、下发路线、下发授权、上报位姿。服务端只有一个仿真线程能改世界状态，网络线程都通过命令队列排队，所以不需要加锁、结果可以复现。三个设计支柱：第一，安全靠机制保证——每辆车只能开进服务端授权给它的格子，任意两车的授权格不相交，所以不会相撞；第二，任何设备断线，3 秒内由内部仿真接管；第三，演示中要发生的事都写在场景脚本里，考核时不需要碰电脑。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路径规划用 A*，状态是格子加驶入方向，这样能加转弯代价、禁止原地掉头；单行道被堵死时借对向车道掉头。派单每 2 秒把空车和等待订单建成代价矩阵，用匈牙利算法求全局最优匹配。右边是配对对比实验：同一组种子、完全相同的订单序列。订单稀少时两种策略差不多，接近饱和时匈牙利算法把平均等待从 70 秒降到 39 秒，少了 45%。潮汐需求下再开启空车调度，平均等待又少了 20%。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和 Gazebo 小车都是数字孪生：服务端下发路线和授权停车点 stopS，设备用纯追踪跟踪路线，速度上限保证总能在停车点前刹住。服务端把真实世界和系统认知分开：场景脚本放出的施工围挡系统一开始并不知道，要靠每辆车的模拟激光雷达发现。命中点并入占据栅格，确认后写入全局地图，收回经过它的授权，车辆重规划或掉头；障碍消失后也会被自动撤掉。Gazebo 里 5 辆物理小车接入后同样零碰撞——我们发现并补偿了里程计延迟和执行滞后，否则车会越过停车点 8 厘米。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手机是数字世界里的行人。App 用加速度计步、Weinberg 模型估步长、陀螺仪积分航向，再按比例尺换算成地图坐标，每秒上报 10 次——教室里收不到卫星，走 1 米可以当地图上 5 米。行人走进某辆车的授权格，车会立刻停下。端云互动：手机只负责拍照上传，服务端做颜色分割、连通域和针孔模型测距，把路障写进全局地图，附近的车随即绕行。颜色分割和开运算按行并行，大图在两核机器上加速约 1.4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挑战项我们做了六个：自写 WebGL 的 3D 视图、感知与辅助建图、端云互动、图像处理加速、Gazebo 物理仿真小车、需求预测空车调度。评估方面：16 辆车、每分钟 16 单的高负载，运行带路障和未知障碍的演示场景 6 次、每次 60 分钟，碰撞全部为零；104 项单元测试全部通过；系统集成测试中断开整个车队，0.2 秒内全部由数字世界接管。最后，考核过程中不需要任何人工操作，所有情节都由场景脚本按时间自动触发。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我们的介绍就到这里，接下来是现场演示：整个系统一键启动，演示过程中我们不碰电脑。谢谢各位老师。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480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480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4480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MiniDiDi 缩微滴滴 · 综合设计与实践 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缩微滴滴：多智能体无人出租车系统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MiniDiDi · 综合设计与实践 C 期末答辩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第 1 组　指导教师 许春权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组长 阮飞翔 2252753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组员 樊宇泽 2351586　李昊博 2352853　付泽亮 2353413</a:t>
            </a:r>
            <a:endParaRPr lang="en-US" sz="1200" dirty="0"/>
          </a:p>
        </p:txBody>
      </p:sp>
      <p:pic>
        <p:nvPicPr>
          <p:cNvPr id="5" name="cover-3d" descr="3D 视图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51560"/>
            <a:ext cx="3520440" cy="2203704"/>
          </a:xfrm>
          <a:prstGeom prst="rect">
            <a:avLst/>
          </a:prstGeom>
        </p:spPr>
      </p:pic>
      <p:sp>
        <p:nvSpPr>
          <p:cNvPr id="6" name="cover-tagline"/>
          <p:cNvSpPr txBox="1"/>
          <p:nvPr/>
        </p:nvSpPr>
        <p:spPr>
          <a:xfrm>
            <a:off x="5257800" y="3383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城市里有人叫车，“系统超脑”派车、规划路径、管控交通；Matlab、手机、Gazebo 小车都是它的数字孪生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系统总体：一个超脑，四类设备，同一套协议</a:t>
            </a:r>
            <a:endParaRPr lang="en-US" sz="2600" dirty="0"/>
          </a:p>
        </p:txBody>
      </p:sp>
      <p:sp>
        <p:nvSpPr>
          <p:cNvPr id="3" name="device-0"/>
          <p:cNvSpPr/>
          <p:nvPr/>
        </p:nvSpPr>
        <p:spPr>
          <a:xfrm>
            <a:off x="457200" y="1051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vice-0-circle"/>
          <p:cNvSpPr/>
          <p:nvPr/>
        </p:nvSpPr>
        <p:spPr>
          <a:xfrm>
            <a:off x="594360" y="12161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evice-0-icon" descr="device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343436"/>
            <a:ext cx="275783" cy="275783"/>
          </a:xfrm>
          <a:prstGeom prst="rect">
            <a:avLst/>
          </a:prstGeom>
        </p:spPr>
      </p:pic>
      <p:sp>
        <p:nvSpPr>
          <p:cNvPr id="6" name="device-0-text"/>
          <p:cNvSpPr txBox="1"/>
          <p:nvPr/>
        </p:nvSpPr>
        <p:spPr>
          <a:xfrm>
            <a:off x="1234440" y="1097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2D/3D 网页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HTTP 8080</a:t>
            </a:r>
            <a:endParaRPr lang="en-US" sz="1300" dirty="0"/>
          </a:p>
        </p:txBody>
      </p:sp>
      <p:sp>
        <p:nvSpPr>
          <p:cNvPr id="7" name="device-0-link"/>
          <p:cNvSpPr/>
          <p:nvPr/>
        </p:nvSpPr>
        <p:spPr>
          <a:xfrm>
            <a:off x="1417320" y="1938528"/>
            <a:ext cx="0" cy="23774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8" name="device-1"/>
          <p:cNvSpPr/>
          <p:nvPr/>
        </p:nvSpPr>
        <p:spPr>
          <a:xfrm>
            <a:off x="2560320" y="1051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evice-1-circle"/>
          <p:cNvSpPr/>
          <p:nvPr/>
        </p:nvSpPr>
        <p:spPr>
          <a:xfrm>
            <a:off x="2697480" y="12161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device-1-icon" descr="devic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64" y="1343436"/>
            <a:ext cx="275783" cy="275783"/>
          </a:xfrm>
          <a:prstGeom prst="rect">
            <a:avLst/>
          </a:prstGeom>
        </p:spPr>
      </p:pic>
      <p:sp>
        <p:nvSpPr>
          <p:cNvPr id="11" name="device-1-text"/>
          <p:cNvSpPr txBox="1"/>
          <p:nvPr/>
        </p:nvSpPr>
        <p:spPr>
          <a:xfrm>
            <a:off x="3337560" y="1097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Matlab ×5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TCP 9000</a:t>
            </a:r>
            <a:endParaRPr lang="en-US" sz="1300" dirty="0"/>
          </a:p>
        </p:txBody>
      </p:sp>
      <p:sp>
        <p:nvSpPr>
          <p:cNvPr id="12" name="device-1-link"/>
          <p:cNvSpPr/>
          <p:nvPr/>
        </p:nvSpPr>
        <p:spPr>
          <a:xfrm>
            <a:off x="3520440" y="1938528"/>
            <a:ext cx="0" cy="23774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3" name="device-2"/>
          <p:cNvSpPr/>
          <p:nvPr/>
        </p:nvSpPr>
        <p:spPr>
          <a:xfrm>
            <a:off x="4663440" y="1051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evice-2-circle"/>
          <p:cNvSpPr/>
          <p:nvPr/>
        </p:nvSpPr>
        <p:spPr>
          <a:xfrm>
            <a:off x="4800600" y="12161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device-2-icon" descr="devic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884" y="1343436"/>
            <a:ext cx="275783" cy="275783"/>
          </a:xfrm>
          <a:prstGeom prst="rect">
            <a:avLst/>
          </a:prstGeom>
        </p:spPr>
      </p:pic>
      <p:sp>
        <p:nvSpPr>
          <p:cNvPr id="16" name="device-2-text"/>
          <p:cNvSpPr txBox="1"/>
          <p:nvPr/>
        </p:nvSpPr>
        <p:spPr>
          <a:xfrm>
            <a:off x="5440680" y="1097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安卓手机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TCP + HTTP</a:t>
            </a:r>
            <a:endParaRPr lang="en-US" sz="1300" dirty="0"/>
          </a:p>
        </p:txBody>
      </p:sp>
      <p:sp>
        <p:nvSpPr>
          <p:cNvPr id="17" name="device-2-link"/>
          <p:cNvSpPr/>
          <p:nvPr/>
        </p:nvSpPr>
        <p:spPr>
          <a:xfrm>
            <a:off x="5623560" y="1938528"/>
            <a:ext cx="0" cy="23774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8" name="device-3"/>
          <p:cNvSpPr/>
          <p:nvPr/>
        </p:nvSpPr>
        <p:spPr>
          <a:xfrm>
            <a:off x="6766560" y="1051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evice-3-circle"/>
          <p:cNvSpPr/>
          <p:nvPr/>
        </p:nvSpPr>
        <p:spPr>
          <a:xfrm>
            <a:off x="6903720" y="12161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device-3-icon" descr="device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04" y="1343436"/>
            <a:ext cx="275783" cy="275783"/>
          </a:xfrm>
          <a:prstGeom prst="rect">
            <a:avLst/>
          </a:prstGeom>
        </p:spPr>
      </p:pic>
      <p:sp>
        <p:nvSpPr>
          <p:cNvPr id="21" name="device-3-text"/>
          <p:cNvSpPr txBox="1"/>
          <p:nvPr/>
        </p:nvSpPr>
        <p:spPr>
          <a:xfrm>
            <a:off x="7543800" y="1097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Gazebo ×5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ROS 2 桥接</a:t>
            </a:r>
            <a:endParaRPr lang="en-US" sz="1300" dirty="0"/>
          </a:p>
        </p:txBody>
      </p:sp>
      <p:sp>
        <p:nvSpPr>
          <p:cNvPr id="22" name="device-3-link"/>
          <p:cNvSpPr/>
          <p:nvPr/>
        </p:nvSpPr>
        <p:spPr>
          <a:xfrm>
            <a:off x="7726680" y="1938528"/>
            <a:ext cx="0" cy="23774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3" name="server"/>
          <p:cNvSpPr/>
          <p:nvPr/>
        </p:nvSpPr>
        <p:spPr>
          <a:xfrm>
            <a:off x="457200" y="2212848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erver-text"/>
          <p:cNvSpPr txBox="1"/>
          <p:nvPr/>
        </p:nvSpPr>
        <p:spPr>
          <a:xfrm>
            <a:off x="685800" y="225856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数字世界服务端（Java 17，只依赖 Gson）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20 Hz 单线程仿真 · 派单 · A* 规划 · 交通管控 · 感知建图 · 图像识别 · 场景脚本</a:t>
            </a:r>
            <a:endParaRPr lang="en-US" sz="1500" dirty="0"/>
          </a:p>
        </p:txBody>
      </p:sp>
      <p:sp>
        <p:nvSpPr>
          <p:cNvPr id="25" name="pillar-0"/>
          <p:cNvSpPr/>
          <p:nvPr/>
        </p:nvSpPr>
        <p:spPr>
          <a:xfrm>
            <a:off x="457200" y="3364992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illar-0-circle"/>
          <p:cNvSpPr/>
          <p:nvPr/>
        </p:nvSpPr>
        <p:spPr>
          <a:xfrm>
            <a:off x="621792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pillar-0-icon" descr="pillar-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30168"/>
            <a:ext cx="237744" cy="237744"/>
          </a:xfrm>
          <a:prstGeom prst="rect">
            <a:avLst/>
          </a:prstGeom>
        </p:spPr>
      </p:pic>
      <p:sp>
        <p:nvSpPr>
          <p:cNvPr id="28" name="pillar-0-title"/>
          <p:cNvSpPr txBox="1"/>
          <p:nvPr/>
        </p:nvSpPr>
        <p:spPr>
          <a:xfrm>
            <a:off x="11887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零碰撞由机制保证</a:t>
            </a:r>
            <a:endParaRPr lang="en-US" sz="1400" dirty="0"/>
          </a:p>
        </p:txBody>
      </p:sp>
      <p:sp>
        <p:nvSpPr>
          <p:cNvPr id="29" name="pillar-0-text"/>
          <p:cNvSpPr txBox="1"/>
          <p:nvPr/>
        </p:nvSpPr>
        <p:spPr>
          <a:xfrm>
            <a:off x="621792" y="4041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格子预约 + 移动授权：任意两车的授权格互不相交</a:t>
            </a:r>
            <a:endParaRPr lang="en-US" sz="1100" dirty="0"/>
          </a:p>
        </p:txBody>
      </p:sp>
      <p:sp>
        <p:nvSpPr>
          <p:cNvPr id="30" name="pillar-1"/>
          <p:cNvSpPr/>
          <p:nvPr/>
        </p:nvSpPr>
        <p:spPr>
          <a:xfrm>
            <a:off x="3246120" y="3364992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pillar-1-circle"/>
          <p:cNvSpPr/>
          <p:nvPr/>
        </p:nvSpPr>
        <p:spPr>
          <a:xfrm>
            <a:off x="3410712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pillar-1-icon" descr="pillar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630168"/>
            <a:ext cx="237744" cy="237744"/>
          </a:xfrm>
          <a:prstGeom prst="rect">
            <a:avLst/>
          </a:prstGeom>
        </p:spPr>
      </p:pic>
      <p:sp>
        <p:nvSpPr>
          <p:cNvPr id="33" name="pillar-1-title"/>
          <p:cNvSpPr txBox="1"/>
          <p:nvPr/>
        </p:nvSpPr>
        <p:spPr>
          <a:xfrm>
            <a:off x="39776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断线自动接管</a:t>
            </a:r>
            <a:endParaRPr lang="en-US" sz="1400" dirty="0"/>
          </a:p>
        </p:txBody>
      </p:sp>
      <p:sp>
        <p:nvSpPr>
          <p:cNvPr id="34" name="pillar-1-text"/>
          <p:cNvSpPr txBox="1"/>
          <p:nvPr/>
        </p:nvSpPr>
        <p:spPr>
          <a:xfrm>
            <a:off x="3410712" y="4041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设备 3 s 无消息，内部仿真接手，系统不停摆</a:t>
            </a:r>
            <a:endParaRPr lang="en-US" sz="1100" dirty="0"/>
          </a:p>
        </p:txBody>
      </p:sp>
      <p:sp>
        <p:nvSpPr>
          <p:cNvPr id="35" name="pillar-2"/>
          <p:cNvSpPr/>
          <p:nvPr/>
        </p:nvSpPr>
        <p:spPr>
          <a:xfrm>
            <a:off x="6035040" y="3364992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illar-2-circle"/>
          <p:cNvSpPr/>
          <p:nvPr/>
        </p:nvSpPr>
        <p:spPr>
          <a:xfrm>
            <a:off x="6199632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pillar-2-icon" descr="pillar-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630168"/>
            <a:ext cx="237744" cy="237744"/>
          </a:xfrm>
          <a:prstGeom prst="rect">
            <a:avLst/>
          </a:prstGeom>
        </p:spPr>
      </p:pic>
      <p:sp>
        <p:nvSpPr>
          <p:cNvPr id="38" name="pillar-2-title"/>
          <p:cNvSpPr txBox="1"/>
          <p:nvPr/>
        </p:nvSpPr>
        <p:spPr>
          <a:xfrm>
            <a:off x="67665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全自主运行</a:t>
            </a:r>
            <a:endParaRPr lang="en-US" sz="1400" dirty="0"/>
          </a:p>
        </p:txBody>
      </p:sp>
      <p:sp>
        <p:nvSpPr>
          <p:cNvPr id="39" name="pillar-2-text"/>
          <p:cNvSpPr txBox="1"/>
          <p:nvPr/>
        </p:nvSpPr>
        <p:spPr>
          <a:xfrm>
            <a:off x="6199632" y="4041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一键启动；场景脚本按时间自动触发全部演示情节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数字世界与调度：最优化让饱和时的等车时间少 45%</a:t>
            </a:r>
            <a:endParaRPr lang="en-US" sz="2600" dirty="0"/>
          </a:p>
        </p:txBody>
      </p:sp>
      <p:sp>
        <p:nvSpPr>
          <p:cNvPr id="3" name="algo-0"/>
          <p:cNvSpPr/>
          <p:nvPr/>
        </p:nvSpPr>
        <p:spPr>
          <a:xfrm>
            <a:off x="457200" y="109728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lgo-0-circle"/>
          <p:cNvSpPr/>
          <p:nvPr/>
        </p:nvSpPr>
        <p:spPr>
          <a:xfrm>
            <a:off x="621792" y="13441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lgo-0-icon" descr="algo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1475842"/>
            <a:ext cx="285293" cy="285293"/>
          </a:xfrm>
          <a:prstGeom prst="rect">
            <a:avLst/>
          </a:prstGeom>
        </p:spPr>
      </p:pic>
      <p:sp>
        <p:nvSpPr>
          <p:cNvPr id="6" name="algo-0-text"/>
          <p:cNvSpPr txBox="1"/>
          <p:nvPr/>
        </p:nvSpPr>
        <p:spPr>
          <a:xfrm>
            <a:off x="1325880" y="11704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 路径规划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状态 = 格子 + 驶入方向，遵守车道、禁止原地掉头；被堵死时借对向车道掉头</a:t>
            </a:r>
            <a:endParaRPr lang="en-US" sz="1400" dirty="0"/>
          </a:p>
        </p:txBody>
      </p:sp>
      <p:sp>
        <p:nvSpPr>
          <p:cNvPr id="7" name="algo-1"/>
          <p:cNvSpPr/>
          <p:nvPr/>
        </p:nvSpPr>
        <p:spPr>
          <a:xfrm>
            <a:off x="457200" y="228600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lgo-1-circle"/>
          <p:cNvSpPr/>
          <p:nvPr/>
        </p:nvSpPr>
        <p:spPr>
          <a:xfrm>
            <a:off x="621792" y="25328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lgo-1-icon" descr="algo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6" y="2664562"/>
            <a:ext cx="285293" cy="285293"/>
          </a:xfrm>
          <a:prstGeom prst="rect">
            <a:avLst/>
          </a:prstGeom>
        </p:spPr>
      </p:pic>
      <p:sp>
        <p:nvSpPr>
          <p:cNvPr id="10" name="algo-1-text"/>
          <p:cNvSpPr txBox="1"/>
          <p:nvPr/>
        </p:nvSpPr>
        <p:spPr>
          <a:xfrm>
            <a:off x="1325880" y="235915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匈牙利算法派单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 2 s 求“空车 × 订单”全局最优匹配，代价 = 接驾距离 − 等待时间权重</a:t>
            </a:r>
            <a:endParaRPr lang="en-US" sz="1400" dirty="0"/>
          </a:p>
        </p:txBody>
      </p:sp>
      <p:sp>
        <p:nvSpPr>
          <p:cNvPr id="11" name="algo-2"/>
          <p:cNvSpPr/>
          <p:nvPr/>
        </p:nvSpPr>
        <p:spPr>
          <a:xfrm>
            <a:off x="457200" y="347472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lgo-2-circle"/>
          <p:cNvSpPr/>
          <p:nvPr/>
        </p:nvSpPr>
        <p:spPr>
          <a:xfrm>
            <a:off x="621792" y="37216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lgo-2-icon" descr="algo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6" y="3853282"/>
            <a:ext cx="285293" cy="285293"/>
          </a:xfrm>
          <a:prstGeom prst="rect">
            <a:avLst/>
          </a:prstGeom>
        </p:spPr>
      </p:pic>
      <p:sp>
        <p:nvSpPr>
          <p:cNvPr id="14" name="algo-2-text"/>
          <p:cNvSpPr txBox="1"/>
          <p:nvPr/>
        </p:nvSpPr>
        <p:spPr>
          <a:xfrm>
            <a:off x="1325880" y="354787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空车调度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分区需求预测（τ = 180 s 衰减），把多余空车提前调往缺车区域</a:t>
            </a:r>
            <a:endParaRPr lang="en-US" sz="1400" dirty="0"/>
          </a:p>
        </p:txBody>
      </p:sp>
      <p:graphicFrame>
        <p:nvGraphicFramePr>
          <p:cNvPr id="15" name="dispatch-chart" descr=""/>
          <p:cNvGraphicFramePr/>
          <p:nvPr/>
        </p:nvGraphicFramePr>
        <p:xfrm>
          <a:off x="4617720" y="1051560"/>
          <a:ext cx="4069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tat2-0-num"/>
          <p:cNvSpPr txBox="1"/>
          <p:nvPr/>
        </p:nvSpPr>
        <p:spPr>
          <a:xfrm>
            <a:off x="461772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−45%</a:t>
            </a:r>
            <a:endParaRPr lang="en-US" sz="3000" dirty="0"/>
          </a:p>
        </p:txBody>
      </p:sp>
      <p:sp>
        <p:nvSpPr>
          <p:cNvPr id="17" name="stat2-0-label"/>
          <p:cNvSpPr txBox="1"/>
          <p:nvPr/>
        </p:nvSpPr>
        <p:spPr>
          <a:xfrm>
            <a:off x="4617720" y="41879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接近饱和时平均等待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（匈牙利 vs 贪心）</a:t>
            </a:r>
            <a:endParaRPr lang="en-US" sz="1050" dirty="0"/>
          </a:p>
        </p:txBody>
      </p:sp>
      <p:sp>
        <p:nvSpPr>
          <p:cNvPr id="18" name="stat2-1-num"/>
          <p:cNvSpPr txBox="1"/>
          <p:nvPr/>
        </p:nvSpPr>
        <p:spPr>
          <a:xfrm>
            <a:off x="672084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−20%</a:t>
            </a:r>
            <a:endParaRPr lang="en-US" sz="3000" dirty="0"/>
          </a:p>
        </p:txBody>
      </p:sp>
      <p:sp>
        <p:nvSpPr>
          <p:cNvPr id="19" name="stat2-1-label"/>
          <p:cNvSpPr txBox="1"/>
          <p:nvPr/>
        </p:nvSpPr>
        <p:spPr>
          <a:xfrm>
            <a:off x="6720840" y="41879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潮汐需求下开启空车调度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（4 单/分，8 个种子配对）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孪生车与感知避障：授权保证安全，感知发现未知</a:t>
            </a:r>
            <a:endParaRPr lang="en-US" sz="2600" dirty="0"/>
          </a:p>
        </p:txBody>
      </p:sp>
      <p:pic>
        <p:nvPicPr>
          <p:cNvPr id="3" name="overview-2d" descr="2D 主界面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0" cy="2857500"/>
          </a:xfrm>
          <a:prstGeom prst="rect">
            <a:avLst/>
          </a:prstGeom>
        </p:spPr>
      </p:pic>
      <p:sp>
        <p:nvSpPr>
          <p:cNvPr id="4" name="overview-caption"/>
          <p:cNvSpPr txBox="1"/>
          <p:nvPr/>
        </p:nvSpPr>
        <p:spPr>
          <a:xfrm>
            <a:off x="4572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2D 主界面：车前方的浅色格子是行驶授权，任意两车互不重叠；扇形为激光雷达扫描范围</a:t>
            </a:r>
            <a:endParaRPr lang="en-US" sz="1050" dirty="0"/>
          </a:p>
        </p:txBody>
      </p:sp>
      <p:sp>
        <p:nvSpPr>
          <p:cNvPr id="5" name="twin-0"/>
          <p:cNvSpPr/>
          <p:nvPr/>
        </p:nvSpPr>
        <p:spPr>
          <a:xfrm>
            <a:off x="5257800" y="1051560"/>
            <a:ext cx="3429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win-0-circle"/>
          <p:cNvSpPr/>
          <p:nvPr/>
        </p:nvSpPr>
        <p:spPr>
          <a:xfrm>
            <a:off x="5394960" y="131673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win-0-icon" descr="twin-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661" y="1437437"/>
            <a:ext cx="261518" cy="261518"/>
          </a:xfrm>
          <a:prstGeom prst="rect">
            <a:avLst/>
          </a:prstGeom>
        </p:spPr>
      </p:pic>
      <p:sp>
        <p:nvSpPr>
          <p:cNvPr id="8" name="twin-0-text"/>
          <p:cNvSpPr txBox="1"/>
          <p:nvPr/>
        </p:nvSpPr>
        <p:spPr>
          <a:xfrm>
            <a:off x="6035040" y="110642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Matlab / Gazebo 孪生车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服务端下发路线和停车点 stopS，设备纯追踪执行，速度 v ≤ √(2a·(stopS − s))</a:t>
            </a:r>
            <a:endParaRPr lang="en-US" sz="1300" dirty="0"/>
          </a:p>
        </p:txBody>
      </p:sp>
      <p:sp>
        <p:nvSpPr>
          <p:cNvPr id="9" name="twin-1"/>
          <p:cNvSpPr/>
          <p:nvPr/>
        </p:nvSpPr>
        <p:spPr>
          <a:xfrm>
            <a:off x="5257800" y="2240280"/>
            <a:ext cx="3429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win-1-circle"/>
          <p:cNvSpPr/>
          <p:nvPr/>
        </p:nvSpPr>
        <p:spPr>
          <a:xfrm>
            <a:off x="5394960" y="25054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win-1-icon" descr="twin-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61" y="2626157"/>
            <a:ext cx="261518" cy="261518"/>
          </a:xfrm>
          <a:prstGeom prst="rect">
            <a:avLst/>
          </a:prstGeom>
        </p:spPr>
      </p:pic>
      <p:sp>
        <p:nvSpPr>
          <p:cNvPr id="12" name="twin-1-text"/>
          <p:cNvSpPr txBox="1"/>
          <p:nvPr/>
        </p:nvSpPr>
        <p:spPr>
          <a:xfrm>
            <a:off x="6035040" y="22951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模拟激光雷达 + 占据栅格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48 束 × 3 m × 10 Hz；确认后写入全局地图、收回授权、掉头绕行；平均 30.9 s 发现、零误检</a:t>
            </a:r>
            <a:endParaRPr lang="en-US" sz="1300" dirty="0"/>
          </a:p>
        </p:txBody>
      </p:sp>
      <p:sp>
        <p:nvSpPr>
          <p:cNvPr id="13" name="twin-2"/>
          <p:cNvSpPr/>
          <p:nvPr/>
        </p:nvSpPr>
        <p:spPr>
          <a:xfrm>
            <a:off x="5257800" y="3429000"/>
            <a:ext cx="3429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win-2-circle"/>
          <p:cNvSpPr/>
          <p:nvPr/>
        </p:nvSpPr>
        <p:spPr>
          <a:xfrm>
            <a:off x="5394960" y="36941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win-2-icon" descr="twin-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661" y="3814877"/>
            <a:ext cx="261518" cy="261518"/>
          </a:xfrm>
          <a:prstGeom prst="rect">
            <a:avLst/>
          </a:prstGeom>
        </p:spPr>
      </p:pic>
      <p:sp>
        <p:nvSpPr>
          <p:cNvPr id="16" name="twin-2-text"/>
          <p:cNvSpPr txBox="1"/>
          <p:nvPr/>
        </p:nvSpPr>
        <p:spPr>
          <a:xfrm>
            <a:off x="6035040" y="348386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Gazebo 物理小车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 车 240 s：碰撞 0、越权 0，补偿里程计延迟后越过停车点 0 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手机与端云互动：人也是数字世界里的智能体</a:t>
            </a:r>
            <a:endParaRPr lang="en-US" sz="2600" dirty="0"/>
          </a:p>
        </p:txBody>
      </p:sp>
      <p:sp>
        <p:nvSpPr>
          <p:cNvPr id="3" name="pdr-label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惯性元件估计位姿（行人航位推算），10 Hz 上报地图坐标</a:t>
            </a:r>
            <a:endParaRPr lang="en-US" sz="1300" dirty="0"/>
          </a:p>
        </p:txBody>
      </p:sp>
      <p:sp>
        <p:nvSpPr>
          <p:cNvPr id="4" name="pdr-step-0"/>
          <p:cNvSpPr/>
          <p:nvPr/>
        </p:nvSpPr>
        <p:spPr>
          <a:xfrm>
            <a:off x="457200" y="143560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dr-step-0-text"/>
          <p:cNvSpPr txBox="1"/>
          <p:nvPr/>
        </p:nvSpPr>
        <p:spPr>
          <a:xfrm>
            <a:off x="512064" y="143560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加速度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计步</a:t>
            </a:r>
            <a:endParaRPr lang="en-US" sz="1100" dirty="0"/>
          </a:p>
        </p:txBody>
      </p:sp>
      <p:sp>
        <p:nvSpPr>
          <p:cNvPr id="6" name="pdr-arrow-0"/>
          <p:cNvSpPr/>
          <p:nvPr/>
        </p:nvSpPr>
        <p:spPr>
          <a:xfrm>
            <a:off x="1593342" y="176479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pdr-step-1"/>
          <p:cNvSpPr/>
          <p:nvPr/>
        </p:nvSpPr>
        <p:spPr>
          <a:xfrm>
            <a:off x="1794510" y="143560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dr-step-1-text"/>
          <p:cNvSpPr txBox="1"/>
          <p:nvPr/>
        </p:nvSpPr>
        <p:spPr>
          <a:xfrm>
            <a:off x="1849374" y="143560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Weinberg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步长</a:t>
            </a:r>
            <a:endParaRPr lang="en-US" sz="1100" dirty="0"/>
          </a:p>
        </p:txBody>
      </p:sp>
      <p:sp>
        <p:nvSpPr>
          <p:cNvPr id="9" name="pdr-arrow-1"/>
          <p:cNvSpPr/>
          <p:nvPr/>
        </p:nvSpPr>
        <p:spPr>
          <a:xfrm>
            <a:off x="2930652" y="176479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pdr-step-2"/>
          <p:cNvSpPr/>
          <p:nvPr/>
        </p:nvSpPr>
        <p:spPr>
          <a:xfrm>
            <a:off x="3131820" y="143560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dr-step-2-text"/>
          <p:cNvSpPr txBox="1"/>
          <p:nvPr/>
        </p:nvSpPr>
        <p:spPr>
          <a:xfrm>
            <a:off x="3186684" y="143560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陀螺仪航向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零偏估计</a:t>
            </a:r>
            <a:endParaRPr lang="en-US" sz="1100" dirty="0"/>
          </a:p>
        </p:txBody>
      </p:sp>
      <p:sp>
        <p:nvSpPr>
          <p:cNvPr id="12" name="pdr-arrow-2"/>
          <p:cNvSpPr/>
          <p:nvPr/>
        </p:nvSpPr>
        <p:spPr>
          <a:xfrm>
            <a:off x="4267962" y="176479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pdr-step-3"/>
          <p:cNvSpPr/>
          <p:nvPr/>
        </p:nvSpPr>
        <p:spPr>
          <a:xfrm>
            <a:off x="4469130" y="143560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dr-step-3-text"/>
          <p:cNvSpPr txBox="1"/>
          <p:nvPr/>
        </p:nvSpPr>
        <p:spPr>
          <a:xfrm>
            <a:off x="4523994" y="143560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比例尺换算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地图坐标</a:t>
            </a:r>
            <a:endParaRPr lang="en-US" sz="1100" dirty="0"/>
          </a:p>
        </p:txBody>
      </p:sp>
      <p:sp>
        <p:nvSpPr>
          <p:cNvPr id="15" name="vision-label"/>
          <p:cNvSpPr txBox="1"/>
          <p:nvPr/>
        </p:nvSpPr>
        <p:spPr>
          <a:xfrm>
            <a:off x="45720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端云互动：手机只拍照，重型图像处理在服务端</a:t>
            </a:r>
            <a:endParaRPr lang="en-US" sz="1300" dirty="0"/>
          </a:p>
        </p:txBody>
      </p:sp>
      <p:sp>
        <p:nvSpPr>
          <p:cNvPr id="16" name="vision-step-0"/>
          <p:cNvSpPr/>
          <p:nvPr/>
        </p:nvSpPr>
        <p:spPr>
          <a:xfrm>
            <a:off x="457200" y="267004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vision-step-0-text"/>
          <p:cNvSpPr txBox="1"/>
          <p:nvPr/>
        </p:nvSpPr>
        <p:spPr>
          <a:xfrm>
            <a:off x="512064" y="267004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手机拍照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上传</a:t>
            </a:r>
            <a:endParaRPr lang="en-US" sz="1100" dirty="0"/>
          </a:p>
        </p:txBody>
      </p:sp>
      <p:sp>
        <p:nvSpPr>
          <p:cNvPr id="18" name="vision-arrow-0"/>
          <p:cNvSpPr/>
          <p:nvPr/>
        </p:nvSpPr>
        <p:spPr>
          <a:xfrm>
            <a:off x="1593342" y="299923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vision-step-1"/>
          <p:cNvSpPr/>
          <p:nvPr/>
        </p:nvSpPr>
        <p:spPr>
          <a:xfrm>
            <a:off x="1794510" y="267004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vision-step-1-text"/>
          <p:cNvSpPr txBox="1"/>
          <p:nvPr/>
        </p:nvSpPr>
        <p:spPr>
          <a:xfrm>
            <a:off x="1849374" y="267004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HSV 分割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连通域</a:t>
            </a:r>
            <a:endParaRPr lang="en-US" sz="1100" dirty="0"/>
          </a:p>
        </p:txBody>
      </p:sp>
      <p:sp>
        <p:nvSpPr>
          <p:cNvPr id="21" name="vision-arrow-1"/>
          <p:cNvSpPr/>
          <p:nvPr/>
        </p:nvSpPr>
        <p:spPr>
          <a:xfrm>
            <a:off x="2930652" y="299923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vision-step-2"/>
          <p:cNvSpPr/>
          <p:nvPr/>
        </p:nvSpPr>
        <p:spPr>
          <a:xfrm>
            <a:off x="3131820" y="267004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vision-step-2-text"/>
          <p:cNvSpPr txBox="1"/>
          <p:nvPr/>
        </p:nvSpPr>
        <p:spPr>
          <a:xfrm>
            <a:off x="3186684" y="267004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针孔模型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测距落格</a:t>
            </a:r>
            <a:endParaRPr lang="en-US" sz="1100" dirty="0"/>
          </a:p>
        </p:txBody>
      </p:sp>
      <p:sp>
        <p:nvSpPr>
          <p:cNvPr id="24" name="vision-arrow-2"/>
          <p:cNvSpPr/>
          <p:nvPr/>
        </p:nvSpPr>
        <p:spPr>
          <a:xfrm>
            <a:off x="4267962" y="2999232"/>
            <a:ext cx="17373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vision-step-3"/>
          <p:cNvSpPr/>
          <p:nvPr/>
        </p:nvSpPr>
        <p:spPr>
          <a:xfrm>
            <a:off x="4469130" y="2670048"/>
            <a:ext cx="110871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vision-step-3-text"/>
          <p:cNvSpPr txBox="1"/>
          <p:nvPr/>
        </p:nvSpPr>
        <p:spPr>
          <a:xfrm>
            <a:off x="4523994" y="2670048"/>
            <a:ext cx="9989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写入地图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车辆绕行</a:t>
            </a:r>
            <a:endParaRPr lang="en-US" sz="1100" dirty="0"/>
          </a:p>
        </p:txBody>
      </p:sp>
      <p:sp>
        <p:nvSpPr>
          <p:cNvPr id="27" name="stat4-0-num"/>
          <p:cNvSpPr txBox="1"/>
          <p:nvPr/>
        </p:nvSpPr>
        <p:spPr>
          <a:xfrm>
            <a:off x="45720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≤ 1 步</a:t>
            </a:r>
            <a:endParaRPr lang="en-US" sz="2600" dirty="0"/>
          </a:p>
        </p:txBody>
      </p:sp>
      <p:sp>
        <p:nvSpPr>
          <p:cNvPr id="28" name="stat4-0-label"/>
          <p:cNvSpPr txBox="1"/>
          <p:nvPr/>
        </p:nvSpPr>
        <p:spPr>
          <a:xfrm>
            <a:off x="45720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计步误差（多种握持）</a:t>
            </a:r>
            <a:endParaRPr lang="en-US" sz="1050" dirty="0"/>
          </a:p>
        </p:txBody>
      </p:sp>
      <p:sp>
        <p:nvSpPr>
          <p:cNvPr id="29" name="stat4-1-num"/>
          <p:cNvSpPr txBox="1"/>
          <p:nvPr/>
        </p:nvSpPr>
        <p:spPr>
          <a:xfrm>
            <a:off x="22402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1.7%</a:t>
            </a:r>
            <a:endParaRPr lang="en-US" sz="2600" dirty="0"/>
          </a:p>
        </p:txBody>
      </p:sp>
      <p:sp>
        <p:nvSpPr>
          <p:cNvPr id="30" name="stat4-1-label"/>
          <p:cNvSpPr txBox="1"/>
          <p:nvPr/>
        </p:nvSpPr>
        <p:spPr>
          <a:xfrm>
            <a:off x="224028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9 m 正方形闭合误差</a:t>
            </a:r>
            <a:endParaRPr lang="en-US" sz="1050" dirty="0"/>
          </a:p>
        </p:txBody>
      </p:sp>
      <p:sp>
        <p:nvSpPr>
          <p:cNvPr id="31" name="stat4-2-num"/>
          <p:cNvSpPr txBox="1"/>
          <p:nvPr/>
        </p:nvSpPr>
        <p:spPr>
          <a:xfrm>
            <a:off x="40233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1.4×</a:t>
            </a:r>
            <a:endParaRPr lang="en-US" sz="2600" dirty="0"/>
          </a:p>
        </p:txBody>
      </p:sp>
      <p:sp>
        <p:nvSpPr>
          <p:cNvPr id="32" name="stat4-2-label"/>
          <p:cNvSpPr txBox="1"/>
          <p:nvPr/>
        </p:nvSpPr>
        <p:spPr>
          <a:xfrm>
            <a:off x="402336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大图并行加速（2 核）</a:t>
            </a:r>
            <a:endParaRPr lang="en-US" sz="1050" dirty="0"/>
          </a:p>
        </p:txBody>
      </p:sp>
      <p:pic>
        <p:nvPicPr>
          <p:cNvPr id="33" name="phone-minimap" descr="手机 App 小地图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143000"/>
            <a:ext cx="2880360" cy="1645920"/>
          </a:xfrm>
          <a:prstGeom prst="rect">
            <a:avLst/>
          </a:prstGeom>
        </p:spPr>
      </p:pic>
      <p:sp>
        <p:nvSpPr>
          <p:cNvPr id="34" name="phone-walk-circle"/>
          <p:cNvSpPr/>
          <p:nvPr/>
        </p:nvSpPr>
        <p:spPr>
          <a:xfrm>
            <a:off x="580644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phone-walk-icon" descr="phone-wal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127248"/>
            <a:ext cx="237744" cy="237744"/>
          </a:xfrm>
          <a:prstGeom prst="rect">
            <a:avLst/>
          </a:prstGeom>
        </p:spPr>
      </p:pic>
      <p:sp>
        <p:nvSpPr>
          <p:cNvPr id="36" name="phone-yield"/>
          <p:cNvSpPr txBox="1"/>
          <p:nvPr/>
        </p:nvSpPr>
        <p:spPr>
          <a:xfrm>
            <a:off x="640080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行人走到车前，服务端立即收回这辆车的授权，车停在行人前；人离开后继续行驶</a:t>
            </a:r>
            <a:endParaRPr lang="en-US" sz="1100" dirty="0"/>
          </a:p>
        </p:txBody>
      </p:sp>
      <p:sp>
        <p:nvSpPr>
          <p:cNvPr id="37" name="phone-hail-circle"/>
          <p:cNvSpPr/>
          <p:nvPr/>
        </p:nvSpPr>
        <p:spPr>
          <a:xfrm>
            <a:off x="580644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phone-hail-icon" descr="phone-h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904488"/>
            <a:ext cx="237744" cy="237744"/>
          </a:xfrm>
          <a:prstGeom prst="rect">
            <a:avLst/>
          </a:prstGeom>
        </p:spPr>
      </p:pic>
      <p:sp>
        <p:nvSpPr>
          <p:cNvPr id="39" name="phone-hail-text"/>
          <p:cNvSpPr txBox="1"/>
          <p:nvPr/>
        </p:nvSpPr>
        <p:spPr>
          <a:xfrm>
            <a:off x="64008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在小地图上点目的地即可叫车，订单与普通订单一样被派出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挑战亮点与评估：高负载运行 6 小时零碰撞</a:t>
            </a:r>
            <a:endParaRPr lang="en-US" sz="2600" dirty="0"/>
          </a:p>
        </p:txBody>
      </p:sp>
      <p:pic>
        <p:nvPicPr>
          <p:cNvPr id="3" name="gazebo-shot" descr="Gazebo 截图：俯视与跟车视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1247242"/>
          </a:xfrm>
          <a:prstGeom prst="rect">
            <a:avLst/>
          </a:prstGeom>
        </p:spPr>
      </p:pic>
      <p:sp>
        <p:nvSpPr>
          <p:cNvPr id="4" name="gazebo-caption"/>
          <p:cNvSpPr txBox="1"/>
          <p:nvPr/>
        </p:nvSpPr>
        <p:spPr>
          <a:xfrm>
            <a:off x="457200" y="2359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Gazebo Harmonic 中的 5 辆差速小车（ROS 2 桥接）</a:t>
            </a:r>
            <a:endParaRPr lang="en-US" sz="1050" dirty="0"/>
          </a:p>
        </p:txBody>
      </p:sp>
      <p:sp>
        <p:nvSpPr>
          <p:cNvPr id="5" name="challenge-0"/>
          <p:cNvSpPr/>
          <p:nvPr/>
        </p:nvSpPr>
        <p:spPr>
          <a:xfrm>
            <a:off x="45720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hallenge-0-circle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hallenge-0-icon" descr="challenge-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3105302"/>
            <a:ext cx="190195" cy="190195"/>
          </a:xfrm>
          <a:prstGeom prst="rect">
            <a:avLst/>
          </a:prstGeom>
        </p:spPr>
      </p:pic>
      <p:sp>
        <p:nvSpPr>
          <p:cNvPr id="8" name="challenge-0-text"/>
          <p:cNvSpPr txBox="1"/>
          <p:nvPr/>
        </p:nvSpPr>
        <p:spPr>
          <a:xfrm>
            <a:off x="987552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3D 可视化</a:t>
            </a:r>
            <a:endParaRPr lang="en-US" sz="1100" dirty="0"/>
          </a:p>
        </p:txBody>
      </p:sp>
      <p:sp>
        <p:nvSpPr>
          <p:cNvPr id="9" name="challenge-1"/>
          <p:cNvSpPr/>
          <p:nvPr/>
        </p:nvSpPr>
        <p:spPr>
          <a:xfrm>
            <a:off x="182880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allenge-1-circle"/>
          <p:cNvSpPr/>
          <p:nvPr/>
        </p:nvSpPr>
        <p:spPr>
          <a:xfrm>
            <a:off x="192024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hallenge-1-icon" descr="challenge-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22" y="3105302"/>
            <a:ext cx="190195" cy="190195"/>
          </a:xfrm>
          <a:prstGeom prst="rect">
            <a:avLst/>
          </a:prstGeom>
        </p:spPr>
      </p:pic>
      <p:sp>
        <p:nvSpPr>
          <p:cNvPr id="12" name="challenge-1-text"/>
          <p:cNvSpPr txBox="1"/>
          <p:nvPr/>
        </p:nvSpPr>
        <p:spPr>
          <a:xfrm>
            <a:off x="2359152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感知建图</a:t>
            </a:r>
            <a:endParaRPr lang="en-US" sz="1100" dirty="0"/>
          </a:p>
        </p:txBody>
      </p:sp>
      <p:sp>
        <p:nvSpPr>
          <p:cNvPr id="13" name="challenge-2"/>
          <p:cNvSpPr/>
          <p:nvPr/>
        </p:nvSpPr>
        <p:spPr>
          <a:xfrm>
            <a:off x="320040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allenge-2-circle"/>
          <p:cNvSpPr/>
          <p:nvPr/>
        </p:nvSpPr>
        <p:spPr>
          <a:xfrm>
            <a:off x="329184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hallenge-2-icon" descr="challenge-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622" y="3105302"/>
            <a:ext cx="190195" cy="190195"/>
          </a:xfrm>
          <a:prstGeom prst="rect">
            <a:avLst/>
          </a:prstGeom>
        </p:spPr>
      </p:pic>
      <p:sp>
        <p:nvSpPr>
          <p:cNvPr id="16" name="challenge-2-text"/>
          <p:cNvSpPr txBox="1"/>
          <p:nvPr/>
        </p:nvSpPr>
        <p:spPr>
          <a:xfrm>
            <a:off x="3730752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端云互动</a:t>
            </a:r>
            <a:endParaRPr lang="en-US" sz="1100" dirty="0"/>
          </a:p>
        </p:txBody>
      </p:sp>
      <p:sp>
        <p:nvSpPr>
          <p:cNvPr id="17" name="challenge-3"/>
          <p:cNvSpPr/>
          <p:nvPr/>
        </p:nvSpPr>
        <p:spPr>
          <a:xfrm>
            <a:off x="457200" y="370332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hallenge-3-circle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hallenge-3-icon" descr="challenge-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3973982"/>
            <a:ext cx="190195" cy="190195"/>
          </a:xfrm>
          <a:prstGeom prst="rect">
            <a:avLst/>
          </a:prstGeom>
        </p:spPr>
      </p:pic>
      <p:sp>
        <p:nvSpPr>
          <p:cNvPr id="20" name="challenge-3-text"/>
          <p:cNvSpPr txBox="1"/>
          <p:nvPr/>
        </p:nvSpPr>
        <p:spPr>
          <a:xfrm>
            <a:off x="987552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图像加速</a:t>
            </a:r>
            <a:endParaRPr lang="en-US" sz="1100" dirty="0"/>
          </a:p>
        </p:txBody>
      </p:sp>
      <p:sp>
        <p:nvSpPr>
          <p:cNvPr id="21" name="challenge-4"/>
          <p:cNvSpPr/>
          <p:nvPr/>
        </p:nvSpPr>
        <p:spPr>
          <a:xfrm>
            <a:off x="1828800" y="370332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hallenge-4-circle"/>
          <p:cNvSpPr/>
          <p:nvPr/>
        </p:nvSpPr>
        <p:spPr>
          <a:xfrm>
            <a:off x="1920240" y="3886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challenge-4-icon" descr="challenge-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8022" y="3973982"/>
            <a:ext cx="190195" cy="190195"/>
          </a:xfrm>
          <a:prstGeom prst="rect">
            <a:avLst/>
          </a:prstGeom>
        </p:spPr>
      </p:pic>
      <p:sp>
        <p:nvSpPr>
          <p:cNvPr id="24" name="challenge-4-text"/>
          <p:cNvSpPr txBox="1"/>
          <p:nvPr/>
        </p:nvSpPr>
        <p:spPr>
          <a:xfrm>
            <a:off x="2359152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Gazebo</a:t>
            </a:r>
            <a:endParaRPr lang="en-US" sz="1100" dirty="0"/>
          </a:p>
        </p:txBody>
      </p:sp>
      <p:sp>
        <p:nvSpPr>
          <p:cNvPr id="25" name="challenge-5"/>
          <p:cNvSpPr/>
          <p:nvPr/>
        </p:nvSpPr>
        <p:spPr>
          <a:xfrm>
            <a:off x="3200400" y="370332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hallenge-5-circle"/>
          <p:cNvSpPr/>
          <p:nvPr/>
        </p:nvSpPr>
        <p:spPr>
          <a:xfrm>
            <a:off x="3291840" y="3886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challenge-5-icon" descr="challenge-5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622" y="3973982"/>
            <a:ext cx="190195" cy="190195"/>
          </a:xfrm>
          <a:prstGeom prst="rect">
            <a:avLst/>
          </a:prstGeom>
        </p:spPr>
      </p:pic>
      <p:sp>
        <p:nvSpPr>
          <p:cNvPr id="28" name="challenge-5-text"/>
          <p:cNvSpPr txBox="1"/>
          <p:nvPr/>
        </p:nvSpPr>
        <p:spPr>
          <a:xfrm>
            <a:off x="3730752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空车调度</a:t>
            </a:r>
            <a:endParaRPr lang="en-US" sz="1100" dirty="0"/>
          </a:p>
        </p:txBody>
      </p:sp>
      <p:sp>
        <p:nvSpPr>
          <p:cNvPr id="29" name="stat5-0"/>
          <p:cNvSpPr/>
          <p:nvPr/>
        </p:nvSpPr>
        <p:spPr>
          <a:xfrm>
            <a:off x="4709160" y="105156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at5-0-num"/>
          <p:cNvSpPr txBox="1"/>
          <p:nvPr/>
        </p:nvSpPr>
        <p:spPr>
          <a:xfrm>
            <a:off x="4846320" y="12161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</a:t>
            </a:r>
            <a:endParaRPr lang="en-US" sz="3200" dirty="0"/>
          </a:p>
        </p:txBody>
      </p:sp>
      <p:sp>
        <p:nvSpPr>
          <p:cNvPr id="31" name="stat5-0-label"/>
          <p:cNvSpPr txBox="1"/>
          <p:nvPr/>
        </p:nvSpPr>
        <p:spPr>
          <a:xfrm>
            <a:off x="4846320" y="1947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车辆碰撞：16 车高负载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运行 6 × 60 分钟</a:t>
            </a:r>
            <a:endParaRPr lang="en-US" sz="1100" dirty="0"/>
          </a:p>
        </p:txBody>
      </p:sp>
      <p:sp>
        <p:nvSpPr>
          <p:cNvPr id="32" name="stat5-1"/>
          <p:cNvSpPr/>
          <p:nvPr/>
        </p:nvSpPr>
        <p:spPr>
          <a:xfrm>
            <a:off x="6720840" y="105156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tat5-1-num"/>
          <p:cNvSpPr txBox="1"/>
          <p:nvPr/>
        </p:nvSpPr>
        <p:spPr>
          <a:xfrm>
            <a:off x="6858000" y="12161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103</a:t>
            </a:r>
            <a:endParaRPr lang="en-US" sz="3200" dirty="0"/>
          </a:p>
        </p:txBody>
      </p:sp>
      <p:sp>
        <p:nvSpPr>
          <p:cNvPr id="34" name="stat5-1-label"/>
          <p:cNvSpPr txBox="1"/>
          <p:nvPr/>
        </p:nvSpPr>
        <p:spPr>
          <a:xfrm>
            <a:off x="6858000" y="19476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项单元测试全部通过</a:t>
            </a:r>
            <a:endParaRPr lang="en-US" sz="1100" dirty="0"/>
          </a:p>
        </p:txBody>
      </p:sp>
      <p:sp>
        <p:nvSpPr>
          <p:cNvPr id="35" name="stat5-2"/>
          <p:cNvSpPr/>
          <p:nvPr/>
        </p:nvSpPr>
        <p:spPr>
          <a:xfrm>
            <a:off x="4709160" y="283464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tat5-2-num"/>
          <p:cNvSpPr txBox="1"/>
          <p:nvPr/>
        </p:nvSpPr>
        <p:spPr>
          <a:xfrm>
            <a:off x="4846320" y="299923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0.2 s</a:t>
            </a:r>
            <a:endParaRPr lang="en-US" sz="3200" dirty="0"/>
          </a:p>
        </p:txBody>
      </p:sp>
      <p:sp>
        <p:nvSpPr>
          <p:cNvPr id="37" name="stat5-2-label"/>
          <p:cNvSpPr txBox="1"/>
          <p:nvPr/>
        </p:nvSpPr>
        <p:spPr>
          <a:xfrm>
            <a:off x="4846320" y="37307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断开车队后全部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由数字世界接管</a:t>
            </a:r>
            <a:endParaRPr lang="en-US" sz="1100" dirty="0"/>
          </a:p>
        </p:txBody>
      </p:sp>
      <p:sp>
        <p:nvSpPr>
          <p:cNvPr id="38" name="stat5-3"/>
          <p:cNvSpPr/>
          <p:nvPr/>
        </p:nvSpPr>
        <p:spPr>
          <a:xfrm>
            <a:off x="6720840" y="283464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tat5-3-num"/>
          <p:cNvSpPr txBox="1"/>
          <p:nvPr/>
        </p:nvSpPr>
        <p:spPr>
          <a:xfrm>
            <a:off x="6858000" y="299923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 次</a:t>
            </a:r>
            <a:endParaRPr lang="en-US" sz="3200" dirty="0"/>
          </a:p>
        </p:txBody>
      </p:sp>
      <p:sp>
        <p:nvSpPr>
          <p:cNvPr id="40" name="stat5-3-label"/>
          <p:cNvSpPr txBox="1"/>
          <p:nvPr/>
        </p:nvSpPr>
        <p:spPr>
          <a:xfrm>
            <a:off x="6858000" y="37307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考核中的人工操作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（场景脚本自动触发）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谢谢！请老师指正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现场演示：一键启动，全程无人操作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源码、技术报告、测试与评估数据：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github.com/fuzeliang1/ZongC</a:t>
            </a:r>
            <a:endParaRPr lang="en-US" sz="1200" dirty="0"/>
          </a:p>
        </p:txBody>
      </p:sp>
      <p:pic>
        <p:nvPicPr>
          <p:cNvPr id="5" name="closing-gazebo" descr="Gazebo 跟车视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51560"/>
            <a:ext cx="3520440" cy="2203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iDiDi">
  <a:themeElements>
    <a:clrScheme name="MiniDiDi">
      <a:dk1>
        <a:srgbClr val="1E2732"/>
      </a:dk1>
      <a:lt1>
        <a:srgbClr val="FFFFFF"/>
      </a:lt1>
      <a:dk2>
        <a:srgbClr val="4A5866"/>
      </a:dk2>
      <a:lt2>
        <a:srgbClr val="EEF1F4"/>
      </a:lt2>
      <a:accent1>
        <a:srgbClr val="F2B705"/>
      </a:accent1>
      <a:accent2>
        <a:srgbClr val="1B998B"/>
      </a:accent2>
      <a:accent3>
        <a:srgbClr val="E4572E"/>
      </a:accent3>
      <a:accent4>
        <a:srgbClr val="5B7083"/>
      </a:accent4>
      <a:accent5>
        <a:srgbClr val="9AA5B1"/>
      </a:accent5>
      <a:accent6>
        <a:srgbClr val="2E86AB"/>
      </a:accent6>
      <a:hlink>
        <a:srgbClr val="2E86AB"/>
      </a:hlink>
      <a:folHlink>
        <a:srgbClr val="5B7083"/>
      </a:folHlink>
    </a:clrScheme>
    <a:fontScheme name="MiniDiDi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MiniDiDi 缩微滴滴：多智能体无人出租车系统</dc:title>
  <dc:subject>综合设计与实践 C 期末答辩</dc:subject>
  <dc:creator>MiniDiDi 小组</dc:creator>
  <cp:lastModifiedBy>MiniDiDi 小组</cp:lastModifiedBy>
  <cp:revision>1</cp:revision>
  <dcterms:created xsi:type="dcterms:W3CDTF">2026-10-24T14:59:32Z</dcterms:created>
  <dcterms:modified xsi:type="dcterms:W3CDTF">2026-10-24T14:59:32Z</dcterms:modified>
</cp:coreProperties>
</file>