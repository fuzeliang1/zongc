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封面" id="{94f25115-0ff7-2371-ccf2-afe5edc5c03e}">
          <p14:sldIdLst>
            <p14:sldId id="256"/>
          </p14:sldIdLst>
        </p14:section>
        <p14:section name="正文" id="{078e5db2-d2ba-3de7-423f-70e765880b51}">
          <p14:sldIdLst>
            <p14:sldId id="257"/>
            <p14:sldId id="258"/>
            <p14:sldId id="259"/>
            <p14:sldId id="260"/>
            <p14:sldId id="261"/>
          </p14:sldIdLst>
        </p14:section>
        <p14:section name="结尾" id="{52bb2929-68aa-40b1-96bc-fd5014d7f683}">
          <p14:sldIdLst>
            <p14:sldId id="262"/>
          </p14:sldIdLst>
        </p14:section>
        <p14:section name="附录" id="{1dbf0b07-cc4a-edec-af11-45fd760ef976}">
          <p14:sldIdLst>
            <p14:sldId id="263"/>
            <p14:sldId id="264"/>
            <p14:sldId id="265"/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E263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E2633"/>
                </a:solidFill>
                <a:latin typeface="+mn-lt"/>
              </a:rPr>
              <a:t>乘客平均等待时间（秒，30 分钟 × 3 个种子）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贪心（就近派车）</c:v>
                </c:pt>
              </c:strCache>
            </c:strRef>
          </c:tx>
          <c:spPr>
            <a:solidFill>
              <a:srgbClr val="B5BDC9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6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· 6 单/分</c:v>
                  </c:pt>
                  <c:pt idx="1">
                    <c:v>16 车 · 12 单/分</c:v>
                  </c:pt>
                  <c:pt idx="2">
                    <c:v>16 车 · 16 单/分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33</c:v>
                </c:pt>
                <c:pt idx="1">
                  <c:v>26.7</c:v>
                </c:pt>
                <c:pt idx="2">
                  <c:v>70.4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匈牙利（全局最优）</c:v>
                </c:pt>
              </c:strCache>
            </c:strRef>
          </c:tx>
          <c:spPr>
            <a:solidFill>
              <a:srgbClr val="F26B1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E263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8 车 · 6 单/分</c:v>
                  </c:pt>
                  <c:pt idx="1">
                    <c:v>16 车 · 12 单/分</c:v>
                  </c:pt>
                  <c:pt idx="2">
                    <c:v>16 车 · 16 单/分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28.5</c:v>
                </c:pt>
                <c:pt idx="1">
                  <c:v>24.6</c:v>
                </c:pt>
                <c:pt idx="2">
                  <c:v>38.6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1200" u="none">
                  <a:solidFill>
                    <a:srgbClr val="1E263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6617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</c:scaling>
        <c:delete val="0"/>
        <c:axPos val="l"/>
        <c:majorGridlines>
          <c:spPr>
            <a:ln w="9525" cap="flat">
              <a:solidFill>
                <a:srgbClr val="E1E5EA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6617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  <c:majorUnit val="20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200">
              <a:solidFill>
                <a:srgbClr val="566173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各位老师好，我们组的题目是缩微滴滴。我们做了一个“系统超脑”：城市里随时有人叫车，它负责派车、规划路径、管控交通；车辆可以是服务端里的数字车，也可以是 Matlab 模拟车、手机和 Gazebo 小车，它们都是数字世界里的数字孪生。整个系统一键启动之后全程自主运行，下面分五部分介绍。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系统由一个数字世界服务端和四类设备组成。网页走 HTTP，所有车辆设备走同一套 TCP 协议：注册、下发路线、下发授权、上报位姿。服务端只有一个仿真线程能改世界状态，网络线程都通过命令队列排队，所以不需要加锁、结果可以复现。右边是三个设计支柱：第一，安全靠机制保证——每辆车只能开进服务端授权给它的格子，任意两车的授权格不相交，所以不会相撞；第二，任何设备断线，3 秒内由内部仿真接管；第三，演示中要发生的事都写在场景脚本里，考核时不需要碰电脑。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路径规划用 A*，状态是格子加驶入方向，这样能加转弯代价、禁止原地掉头；单行道被堵死时借对向车道掉头。派单每 2 秒把空车和等待订单建成代价矩阵，用匈牙利算法求全局最优匹配。右边是配对对比实验：同一组种子、完全相同的订单序列。订单稀少时两种策略差不多，接近饱和时匈牙利算法把平均等待从 70 秒降到 39 秒，少了 45%。潮汐需求下再开启空车调度，平均等待又少了 20%。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左边是 2D 主界面。车前方的浅色格子就是服务端给它的行驶授权，任意两车的授权互不重叠。右上是原理：车 A 只能开到自己授权的最后一格，并在橙线处停下，B 的格子 A 永远申请不到，所以两车不会相撞；路口整段一次申请，不会堵在路口里；受阻 3 秒优先、12 秒绕行，不会死锁。右下是感知：服务端把真实世界和系统认知分开，场景脚本放出的施工围挡系统一开始并不知道，要靠每辆车的模拟激光雷达发现，证据累计够了就写入全局地图，收回经过它的授权，车辆绕行或掉头。平均 30.9 秒发现，零误检。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按课程要求，手机用来模拟一辆车：App 注册后绑定 car-6，路线由服务端规划，人只管拿着手机走路。App 用加速度计步、Weinberg 模型估步长，走路速度乘驾驶比例就是期望车速，车沿路线前进，同样受限速和刹车曲线约束、不越过授权停车点，每秒上报 10 次车的位姿。人走得快车就快，停下车就停；断线 3 秒由内部仿真接管。陀螺仪、磁力计和卫星用来估计并记录人的位姿，供精度分析。端云互动：手机只负责拍照上传，服务端做颜色分割、连通域和针孔模型测距，把路障写进全局地图，附近的车随即绕行。颜色分割和开运算按行并行，大图在两核机器上加速约 1.4 倍。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挑战项我们做了六个：自写 WebGL 的 3D 视图、感知与辅助建图、端云互动、图像处理加速、Gazebo 物理仿真小车、需求预测空车调度。评估方面：16 辆车、每分钟 16 单的高负载，运行带路障和未知障碍的演示场景 6 次、每次 60 分钟，碰撞全部为零；105 项单元测试全部通过；系统集成测试中断开整个车队，0.2 秒内全部由数字世界接管。最后，考核过程中不需要任何人工操作，所有情节都由场景脚本按时间自动触发。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我们的介绍就到这里，接下来是现场演示：整个系统一键启动，演示过程中我们不碰电脑。谢谢各位老师。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备用页：课程要求逐项对照。必做里只有手机 App 还差真机实测，代码和仿真验证都已完成。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备用页：交通管控的六条规则和安全性论证。碰撞监测模块独立于交通管控、按真实几何计数，作为验证，所有实验都是零碰撞。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备用页：评估和测试的关键数据，详细表格见技术报告第 6、7 章。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备用页：分工与 16 周进度。橙色是冲优阶段，做了 3D、感知建图与图像识别、空车调度和 Gazebo。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5486400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b="1" dirty="0">
                <a:solidFill>
                  <a:schemeClr val="accent1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577840" cy="1600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5000"/>
              </a:lnSpc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lnSpc>
                <a:spcPct val="105000"/>
              </a:lnSpc>
              <a:buNone/>
            </a:pP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520440"/>
            <a:ext cx="53035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0000"/>
              </a:lnSpc>
              <a:buNone/>
              <a:defRPr lang="en-US" sz="1500" dirty="0">
                <a:solidFill>
                  <a:schemeClr val="bg2"/>
                </a:solidFill>
              </a:defRPr>
            </a:lvl1pPr>
          </a:lstStyle>
          <a:p>
            <a:pPr indent="0" marL="0">
              <a:lnSpc>
                <a:spcPct val="120000"/>
              </a:lnSpc>
              <a:buNone/>
            </a:pP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846320"/>
            <a:ext cx="54864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lnSpc>
                <a:spcPct val="125000"/>
              </a:lnSpc>
              <a:buNone/>
              <a:defRPr lang="en-US" sz="1300" dirty="0">
                <a:solidFill>
                  <a:schemeClr val="accent5"/>
                </a:solidFill>
              </a:defRPr>
            </a:lvl1pPr>
          </a:lstStyle>
          <a:p>
            <a:pPr indent="0" marL="0">
              <a:lnSpc>
                <a:spcPct val="125000"/>
              </a:lnSpc>
              <a:buNone/>
            </a:pPr>
            <a:endParaRPr lang="en-US" sz="13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</a:rPr>
              <a:t>MiniDiDi 缩微滴滴 · 综合设计与实践 C · 第 1 组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image" Target="../media/image-2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1.xml"/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image" Target="../media/image-6-6.png"/><Relationship Id="rId7" Type="http://schemas.openxmlformats.org/officeDocument/2006/relationships/image" Target="../media/image-6-7.png"/><Relationship Id="rId8" Type="http://schemas.openxmlformats.org/officeDocument/2006/relationships/slideLayout" Target="../slideLayouts/slideLayout3.xml"/><Relationship Id="rId9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综合设计与实践 C · 期末答辩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缩微滴滴</a:t>
            </a:r>
            <a:endParaRPr lang="en-US" sz="3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多智能体无人出租车系统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bg2"/>
                </a:solidFill>
              </a:rPr>
              <a:t>城市里随时有人叫车，“系统超脑”负责派车、规划路径、管控交通；Matlab 车、手机和 Gazebo 小车都是它的数字孪生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8463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第 1 组　指导教师：许春权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组长：阮飞翔 2252753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组员：樊宇泽 2351586　李昊博 2352853　付泽亮 2353413</a:t>
            </a:r>
            <a:endParaRPr lang="en-US" sz="1300" dirty="0"/>
          </a:p>
        </p:txBody>
      </p:sp>
      <p:pic>
        <p:nvPicPr>
          <p:cNvPr id="6" name="cover-3d" descr="3D 视图截图：缩微城市与车辆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591056"/>
            <a:ext cx="5882335" cy="36764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01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系统总体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一个“系统超脑”统一调度四类设备：同一套 TCP 协议，任何设备断线都由数字世界接管</a:t>
            </a:r>
            <a:endParaRPr lang="en-US" sz="1600" dirty="0"/>
          </a:p>
        </p:txBody>
      </p:sp>
      <p:sp>
        <p:nvSpPr>
          <p:cNvPr id="4" name="device-0"/>
          <p:cNvSpPr/>
          <p:nvPr/>
        </p:nvSpPr>
        <p:spPr>
          <a:xfrm>
            <a:off x="5486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5" name="device-0-circle"/>
          <p:cNvSpPr/>
          <p:nvPr/>
        </p:nvSpPr>
        <p:spPr>
          <a:xfrm>
            <a:off x="11430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device-0-icon" descr="device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7300" y="1879092"/>
            <a:ext cx="228600" cy="228600"/>
          </a:xfrm>
          <a:prstGeom prst="rect">
            <a:avLst/>
          </a:prstGeom>
        </p:spPr>
      </p:pic>
      <p:sp>
        <p:nvSpPr>
          <p:cNvPr id="7" name="device-0-name"/>
          <p:cNvSpPr txBox="1"/>
          <p:nvPr/>
        </p:nvSpPr>
        <p:spPr>
          <a:xfrm>
            <a:off x="5486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2D / 3D 网页</a:t>
            </a:r>
            <a:endParaRPr lang="en-US" sz="1400" dirty="0"/>
          </a:p>
        </p:txBody>
      </p:sp>
      <p:sp>
        <p:nvSpPr>
          <p:cNvPr id="8" name="device-0-proto"/>
          <p:cNvSpPr txBox="1"/>
          <p:nvPr/>
        </p:nvSpPr>
        <p:spPr>
          <a:xfrm>
            <a:off x="5486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HTTP 8080</a:t>
            </a:r>
            <a:endParaRPr lang="en-US" sz="1200" dirty="0"/>
          </a:p>
        </p:txBody>
      </p:sp>
      <p:sp>
        <p:nvSpPr>
          <p:cNvPr id="9" name="device-0-link"/>
          <p:cNvSpPr/>
          <p:nvPr/>
        </p:nvSpPr>
        <p:spPr>
          <a:xfrm>
            <a:off x="13716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0" name="device-1"/>
          <p:cNvSpPr/>
          <p:nvPr/>
        </p:nvSpPr>
        <p:spPr>
          <a:xfrm>
            <a:off x="23774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1" name="device-1-circle"/>
          <p:cNvSpPr/>
          <p:nvPr/>
        </p:nvSpPr>
        <p:spPr>
          <a:xfrm>
            <a:off x="29718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device-1-icon" descr="device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6100" y="1879092"/>
            <a:ext cx="228600" cy="228600"/>
          </a:xfrm>
          <a:prstGeom prst="rect">
            <a:avLst/>
          </a:prstGeom>
        </p:spPr>
      </p:pic>
      <p:sp>
        <p:nvSpPr>
          <p:cNvPr id="13" name="device-1-name"/>
          <p:cNvSpPr txBox="1"/>
          <p:nvPr/>
        </p:nvSpPr>
        <p:spPr>
          <a:xfrm>
            <a:off x="23774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Matlab 车队 ×5</a:t>
            </a:r>
            <a:endParaRPr lang="en-US" sz="1400" dirty="0"/>
          </a:p>
        </p:txBody>
      </p:sp>
      <p:sp>
        <p:nvSpPr>
          <p:cNvPr id="14" name="device-1-proto"/>
          <p:cNvSpPr txBox="1"/>
          <p:nvPr/>
        </p:nvSpPr>
        <p:spPr>
          <a:xfrm>
            <a:off x="23774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TCP 9000</a:t>
            </a:r>
            <a:endParaRPr lang="en-US" sz="1200" dirty="0"/>
          </a:p>
        </p:txBody>
      </p:sp>
      <p:sp>
        <p:nvSpPr>
          <p:cNvPr id="15" name="device-1-link"/>
          <p:cNvSpPr/>
          <p:nvPr/>
        </p:nvSpPr>
        <p:spPr>
          <a:xfrm>
            <a:off x="32004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16" name="device-2"/>
          <p:cNvSpPr/>
          <p:nvPr/>
        </p:nvSpPr>
        <p:spPr>
          <a:xfrm>
            <a:off x="42062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17" name="device-2-circle"/>
          <p:cNvSpPr/>
          <p:nvPr/>
        </p:nvSpPr>
        <p:spPr>
          <a:xfrm>
            <a:off x="48006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8" name="device-2-icon" descr="device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14900" y="1879092"/>
            <a:ext cx="228600" cy="228600"/>
          </a:xfrm>
          <a:prstGeom prst="rect">
            <a:avLst/>
          </a:prstGeom>
        </p:spPr>
      </p:pic>
      <p:sp>
        <p:nvSpPr>
          <p:cNvPr id="19" name="device-2-name"/>
          <p:cNvSpPr txBox="1"/>
          <p:nvPr/>
        </p:nvSpPr>
        <p:spPr>
          <a:xfrm>
            <a:off x="42062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安卓手机车</a:t>
            </a:r>
            <a:endParaRPr lang="en-US" sz="1400" dirty="0"/>
          </a:p>
        </p:txBody>
      </p:sp>
      <p:sp>
        <p:nvSpPr>
          <p:cNvPr id="20" name="device-2-proto"/>
          <p:cNvSpPr txBox="1"/>
          <p:nvPr/>
        </p:nvSpPr>
        <p:spPr>
          <a:xfrm>
            <a:off x="42062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TCP 9000 + HTTP</a:t>
            </a:r>
            <a:endParaRPr lang="en-US" sz="1200" dirty="0"/>
          </a:p>
        </p:txBody>
      </p:sp>
      <p:sp>
        <p:nvSpPr>
          <p:cNvPr id="21" name="device-2-link"/>
          <p:cNvSpPr/>
          <p:nvPr/>
        </p:nvSpPr>
        <p:spPr>
          <a:xfrm>
            <a:off x="50292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2" name="device-3"/>
          <p:cNvSpPr/>
          <p:nvPr/>
        </p:nvSpPr>
        <p:spPr>
          <a:xfrm>
            <a:off x="6035040" y="1645920"/>
            <a:ext cx="1645920" cy="1188720"/>
          </a:xfrm>
          <a:prstGeom prst="roundRect">
            <a:avLst>
              <a:gd name="adj" fmla="val 7692"/>
            </a:avLst>
          </a:prstGeom>
          <a:solidFill>
            <a:schemeClr val="bg2"/>
          </a:solidFill>
          <a:ln/>
        </p:spPr>
      </p:sp>
      <p:sp>
        <p:nvSpPr>
          <p:cNvPr id="23" name="device-3-circle"/>
          <p:cNvSpPr/>
          <p:nvPr/>
        </p:nvSpPr>
        <p:spPr>
          <a:xfrm>
            <a:off x="6629400" y="1764792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device-3-icon" descr="device-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0" y="1879092"/>
            <a:ext cx="228600" cy="228600"/>
          </a:xfrm>
          <a:prstGeom prst="rect">
            <a:avLst/>
          </a:prstGeom>
        </p:spPr>
      </p:pic>
      <p:sp>
        <p:nvSpPr>
          <p:cNvPr id="25" name="device-3-name"/>
          <p:cNvSpPr txBox="1"/>
          <p:nvPr/>
        </p:nvSpPr>
        <p:spPr>
          <a:xfrm>
            <a:off x="6035040" y="22860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Gazebo 小车 ×5</a:t>
            </a:r>
            <a:endParaRPr lang="en-US" sz="1400" dirty="0"/>
          </a:p>
        </p:txBody>
      </p:sp>
      <p:sp>
        <p:nvSpPr>
          <p:cNvPr id="26" name="device-3-proto"/>
          <p:cNvSpPr txBox="1"/>
          <p:nvPr/>
        </p:nvSpPr>
        <p:spPr>
          <a:xfrm>
            <a:off x="6035040" y="2551176"/>
            <a:ext cx="16459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ROS 2 桥接 → TCP</a:t>
            </a:r>
            <a:endParaRPr lang="en-US" sz="1200" dirty="0"/>
          </a:p>
        </p:txBody>
      </p:sp>
      <p:sp>
        <p:nvSpPr>
          <p:cNvPr id="27" name="device-3-link"/>
          <p:cNvSpPr/>
          <p:nvPr/>
        </p:nvSpPr>
        <p:spPr>
          <a:xfrm>
            <a:off x="6858000" y="2889504"/>
            <a:ext cx="0" cy="2926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headEnd type="triangle"/>
            <a:tailEnd type="triangle"/>
          </a:ln>
        </p:spPr>
      </p:sp>
      <p:sp>
        <p:nvSpPr>
          <p:cNvPr id="28" name="server"/>
          <p:cNvSpPr/>
          <p:nvPr/>
        </p:nvSpPr>
        <p:spPr>
          <a:xfrm>
            <a:off x="548640" y="3246120"/>
            <a:ext cx="7132320" cy="2880360"/>
          </a:xfrm>
          <a:prstGeom prst="roundRect">
            <a:avLst>
              <a:gd name="adj" fmla="val 3175"/>
            </a:avLst>
          </a:prstGeom>
          <a:solidFill>
            <a:schemeClr val="accent3"/>
          </a:solidFill>
          <a:ln/>
        </p:spPr>
      </p:sp>
      <p:sp>
        <p:nvSpPr>
          <p:cNvPr id="29" name="server-title"/>
          <p:cNvSpPr txBox="1"/>
          <p:nvPr/>
        </p:nvSpPr>
        <p:spPr>
          <a:xfrm>
            <a:off x="777240" y="3410712"/>
            <a:ext cx="6675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数字世界服务端</a:t>
            </a:r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　Java 17 · 只依赖 Gson · 20 Hz 单线程仿真</a:t>
            </a:r>
            <a:endParaRPr lang="en-US" sz="1400" dirty="0"/>
          </a:p>
        </p:txBody>
      </p:sp>
      <p:sp>
        <p:nvSpPr>
          <p:cNvPr id="30" name="module-0"/>
          <p:cNvSpPr/>
          <p:nvPr/>
        </p:nvSpPr>
        <p:spPr>
          <a:xfrm>
            <a:off x="7772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1" name="module-0-text"/>
          <p:cNvSpPr txBox="1"/>
          <p:nvPr/>
        </p:nvSpPr>
        <p:spPr>
          <a:xfrm>
            <a:off x="941832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派单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匈牙利算法全局匹配</a:t>
            </a:r>
            <a:endParaRPr lang="en-US" sz="1400" dirty="0"/>
          </a:p>
        </p:txBody>
      </p:sp>
      <p:sp>
        <p:nvSpPr>
          <p:cNvPr id="32" name="module-1"/>
          <p:cNvSpPr/>
          <p:nvPr/>
        </p:nvSpPr>
        <p:spPr>
          <a:xfrm>
            <a:off x="30632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3" name="module-1-text"/>
          <p:cNvSpPr txBox="1"/>
          <p:nvPr/>
        </p:nvSpPr>
        <p:spPr>
          <a:xfrm>
            <a:off x="3227832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路径规划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A*：格子 + 驶入方向</a:t>
            </a:r>
            <a:endParaRPr lang="en-US" sz="1400" dirty="0"/>
          </a:p>
        </p:txBody>
      </p:sp>
      <p:sp>
        <p:nvSpPr>
          <p:cNvPr id="34" name="module-2"/>
          <p:cNvSpPr/>
          <p:nvPr/>
        </p:nvSpPr>
        <p:spPr>
          <a:xfrm>
            <a:off x="5349240" y="3977640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5" name="module-2-text"/>
          <p:cNvSpPr txBox="1"/>
          <p:nvPr/>
        </p:nvSpPr>
        <p:spPr>
          <a:xfrm>
            <a:off x="5513832" y="3977640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交通管控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格子预约 + 移动授权</a:t>
            </a:r>
            <a:endParaRPr lang="en-US" sz="1400" dirty="0"/>
          </a:p>
        </p:txBody>
      </p:sp>
      <p:sp>
        <p:nvSpPr>
          <p:cNvPr id="36" name="module-3"/>
          <p:cNvSpPr/>
          <p:nvPr/>
        </p:nvSpPr>
        <p:spPr>
          <a:xfrm>
            <a:off x="777240" y="5010912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7" name="module-3-text"/>
          <p:cNvSpPr txBox="1"/>
          <p:nvPr/>
        </p:nvSpPr>
        <p:spPr>
          <a:xfrm>
            <a:off x="941832" y="50109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感知建图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激光雷达 + 占据栅格</a:t>
            </a:r>
            <a:endParaRPr lang="en-US" sz="1400" dirty="0"/>
          </a:p>
        </p:txBody>
      </p:sp>
      <p:sp>
        <p:nvSpPr>
          <p:cNvPr id="38" name="module-4"/>
          <p:cNvSpPr/>
          <p:nvPr/>
        </p:nvSpPr>
        <p:spPr>
          <a:xfrm>
            <a:off x="3063240" y="5010912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39" name="module-4-text"/>
          <p:cNvSpPr txBox="1"/>
          <p:nvPr/>
        </p:nvSpPr>
        <p:spPr>
          <a:xfrm>
            <a:off x="3227832" y="50109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图像识别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颜色分割 + 针孔测距</a:t>
            </a:r>
            <a:endParaRPr lang="en-US" sz="1400" dirty="0"/>
          </a:p>
        </p:txBody>
      </p:sp>
      <p:sp>
        <p:nvSpPr>
          <p:cNvPr id="40" name="module-5"/>
          <p:cNvSpPr/>
          <p:nvPr/>
        </p:nvSpPr>
        <p:spPr>
          <a:xfrm>
            <a:off x="5349240" y="5010912"/>
            <a:ext cx="2103120" cy="868680"/>
          </a:xfrm>
          <a:prstGeom prst="roundRect">
            <a:avLst>
              <a:gd name="adj" fmla="val 10526"/>
            </a:avLst>
          </a:prstGeom>
          <a:solidFill>
            <a:schemeClr val="bg1">
              <a:alpha val="12000"/>
            </a:schemeClr>
          </a:solidFill>
          <a:ln/>
        </p:spPr>
      </p:sp>
      <p:sp>
        <p:nvSpPr>
          <p:cNvPr id="41" name="module-5-text"/>
          <p:cNvSpPr txBox="1"/>
          <p:nvPr/>
        </p:nvSpPr>
        <p:spPr>
          <a:xfrm>
            <a:off x="5513832" y="5010912"/>
            <a:ext cx="1828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场景脚本</a:t>
            </a:r>
            <a:endParaRPr lang="en-US" sz="1400" dirty="0"/>
          </a:p>
          <a:p>
            <a:pPr indent="0" marL="0">
              <a:buNone/>
            </a:pPr>
            <a:r>
              <a:rPr lang="en-US" sz="1200" dirty="0">
                <a:solidFill>
                  <a:schemeClr val="bg2"/>
                </a:solidFill>
              </a:rPr>
              <a:t>按时间自动触发情节</a:t>
            </a:r>
            <a:endParaRPr lang="en-US" sz="1400" dirty="0"/>
          </a:p>
        </p:txBody>
      </p:sp>
      <p:sp>
        <p:nvSpPr>
          <p:cNvPr id="42" name="pillar-0"/>
          <p:cNvSpPr/>
          <p:nvPr/>
        </p:nvSpPr>
        <p:spPr>
          <a:xfrm>
            <a:off x="8046720" y="1645920"/>
            <a:ext cx="3596335" cy="134112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3" name="pillar-0-circle"/>
          <p:cNvSpPr/>
          <p:nvPr/>
        </p:nvSpPr>
        <p:spPr>
          <a:xfrm>
            <a:off x="8275320" y="1847088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44" name="pillar-0-icon" descr="pillar-0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412480" y="1984248"/>
            <a:ext cx="274320" cy="274320"/>
          </a:xfrm>
          <a:prstGeom prst="rect">
            <a:avLst/>
          </a:prstGeom>
        </p:spPr>
      </p:pic>
      <p:sp>
        <p:nvSpPr>
          <p:cNvPr id="45" name="pillar-0-title"/>
          <p:cNvSpPr txBox="1"/>
          <p:nvPr/>
        </p:nvSpPr>
        <p:spPr>
          <a:xfrm>
            <a:off x="9006840" y="1847088"/>
            <a:ext cx="2407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零碰撞由机制保证</a:t>
            </a:r>
            <a:endParaRPr lang="en-US" sz="1600" dirty="0"/>
          </a:p>
        </p:txBody>
      </p:sp>
      <p:sp>
        <p:nvSpPr>
          <p:cNvPr id="46" name="pillar-0-text"/>
          <p:cNvSpPr txBox="1"/>
          <p:nvPr/>
        </p:nvSpPr>
        <p:spPr>
          <a:xfrm>
            <a:off x="9006840" y="2286000"/>
            <a:ext cx="24076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每辆车只能驶入授权给它的格子，任意两车的授权格互不相交</a:t>
            </a:r>
            <a:endParaRPr lang="en-US" sz="1300" dirty="0"/>
          </a:p>
        </p:txBody>
      </p:sp>
      <p:sp>
        <p:nvSpPr>
          <p:cNvPr id="47" name="pillar-1"/>
          <p:cNvSpPr/>
          <p:nvPr/>
        </p:nvSpPr>
        <p:spPr>
          <a:xfrm>
            <a:off x="8046720" y="3215640"/>
            <a:ext cx="3596335" cy="134112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48" name="pillar-1-circle"/>
          <p:cNvSpPr/>
          <p:nvPr/>
        </p:nvSpPr>
        <p:spPr>
          <a:xfrm>
            <a:off x="8275320" y="341680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9" name="pillar-1-icon" descr="pillar-1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2480" y="3553968"/>
            <a:ext cx="274320" cy="274320"/>
          </a:xfrm>
          <a:prstGeom prst="rect">
            <a:avLst/>
          </a:prstGeom>
        </p:spPr>
      </p:pic>
      <p:sp>
        <p:nvSpPr>
          <p:cNvPr id="50" name="pillar-1-title"/>
          <p:cNvSpPr txBox="1"/>
          <p:nvPr/>
        </p:nvSpPr>
        <p:spPr>
          <a:xfrm>
            <a:off x="9006840" y="3416808"/>
            <a:ext cx="2407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断线自动接管</a:t>
            </a:r>
            <a:endParaRPr lang="en-US" sz="1600" dirty="0"/>
          </a:p>
        </p:txBody>
      </p:sp>
      <p:sp>
        <p:nvSpPr>
          <p:cNvPr id="51" name="pillar-1-text"/>
          <p:cNvSpPr txBox="1"/>
          <p:nvPr/>
        </p:nvSpPr>
        <p:spPr>
          <a:xfrm>
            <a:off x="9006840" y="3855720"/>
            <a:ext cx="24076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设备 3 s 无消息，内部仿真接手驾驶，系统不停摆</a:t>
            </a:r>
            <a:endParaRPr lang="en-US" sz="1300" dirty="0"/>
          </a:p>
        </p:txBody>
      </p:sp>
      <p:sp>
        <p:nvSpPr>
          <p:cNvPr id="52" name="pillar-2"/>
          <p:cNvSpPr/>
          <p:nvPr/>
        </p:nvSpPr>
        <p:spPr>
          <a:xfrm>
            <a:off x="8046720" y="4785360"/>
            <a:ext cx="3596335" cy="134112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/>
        </p:spPr>
      </p:sp>
      <p:sp>
        <p:nvSpPr>
          <p:cNvPr id="53" name="pillar-2-circle"/>
          <p:cNvSpPr/>
          <p:nvPr/>
        </p:nvSpPr>
        <p:spPr>
          <a:xfrm>
            <a:off x="8275320" y="4986528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4" name="pillar-2-icon" descr="pillar-2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12480" y="5123688"/>
            <a:ext cx="274320" cy="274320"/>
          </a:xfrm>
          <a:prstGeom prst="rect">
            <a:avLst/>
          </a:prstGeom>
        </p:spPr>
      </p:pic>
      <p:sp>
        <p:nvSpPr>
          <p:cNvPr id="55" name="pillar-2-title"/>
          <p:cNvSpPr txBox="1"/>
          <p:nvPr/>
        </p:nvSpPr>
        <p:spPr>
          <a:xfrm>
            <a:off x="9006840" y="4986528"/>
            <a:ext cx="2407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全自主运行</a:t>
            </a:r>
            <a:endParaRPr lang="en-US" sz="1600" dirty="0"/>
          </a:p>
        </p:txBody>
      </p:sp>
      <p:sp>
        <p:nvSpPr>
          <p:cNvPr id="56" name="pillar-2-text"/>
          <p:cNvSpPr txBox="1"/>
          <p:nvPr/>
        </p:nvSpPr>
        <p:spPr>
          <a:xfrm>
            <a:off x="9006840" y="5425440"/>
            <a:ext cx="2407615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一键启动；场景脚本按时间自动触发全部演示情节，考核中无需人工操作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02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派单与调度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A* 规划路线，匈牙利算法求全局最优派单：接近饱和时平均等车时间减少 45%</a:t>
            </a:r>
            <a:endParaRPr lang="en-US" sz="1600" dirty="0"/>
          </a:p>
        </p:txBody>
      </p:sp>
      <p:sp>
        <p:nvSpPr>
          <p:cNvPr id="4" name="algo-0"/>
          <p:cNvSpPr/>
          <p:nvPr/>
        </p:nvSpPr>
        <p:spPr>
          <a:xfrm>
            <a:off x="548640" y="1645920"/>
            <a:ext cx="5212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5" name="algo-0-circle"/>
          <p:cNvSpPr/>
          <p:nvPr/>
        </p:nvSpPr>
        <p:spPr>
          <a:xfrm>
            <a:off x="777240" y="205740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6" name="algo-0-icon" descr="algo-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2194560"/>
            <a:ext cx="274320" cy="274320"/>
          </a:xfrm>
          <a:prstGeom prst="rect">
            <a:avLst/>
          </a:prstGeom>
        </p:spPr>
      </p:pic>
      <p:sp>
        <p:nvSpPr>
          <p:cNvPr id="7" name="algo-0-title"/>
          <p:cNvSpPr txBox="1"/>
          <p:nvPr/>
        </p:nvSpPr>
        <p:spPr>
          <a:xfrm>
            <a:off x="1536192" y="180136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A* 路径规划</a:t>
            </a:r>
            <a:endParaRPr lang="en-US" sz="1700" dirty="0"/>
          </a:p>
        </p:txBody>
      </p:sp>
      <p:sp>
        <p:nvSpPr>
          <p:cNvPr id="8" name="algo-0-text"/>
          <p:cNvSpPr txBox="1"/>
          <p:nvPr/>
        </p:nvSpPr>
        <p:spPr>
          <a:xfrm>
            <a:off x="1536192" y="221284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状态 = 格子 + 驶入方向：遵守车道方向、禁止原地掉头；单行道被堵死时借对向车道掉头</a:t>
            </a:r>
            <a:endParaRPr lang="en-US" sz="1300" dirty="0"/>
          </a:p>
        </p:txBody>
      </p:sp>
      <p:sp>
        <p:nvSpPr>
          <p:cNvPr id="9" name="algo-1"/>
          <p:cNvSpPr/>
          <p:nvPr/>
        </p:nvSpPr>
        <p:spPr>
          <a:xfrm>
            <a:off x="548640" y="3200400"/>
            <a:ext cx="5212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0" name="algo-1-circle"/>
          <p:cNvSpPr/>
          <p:nvPr/>
        </p:nvSpPr>
        <p:spPr>
          <a:xfrm>
            <a:off x="777240" y="361188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algo-1-icon" descr="algo-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3749040"/>
            <a:ext cx="274320" cy="274320"/>
          </a:xfrm>
          <a:prstGeom prst="rect">
            <a:avLst/>
          </a:prstGeom>
        </p:spPr>
      </p:pic>
      <p:sp>
        <p:nvSpPr>
          <p:cNvPr id="12" name="algo-1-title"/>
          <p:cNvSpPr txBox="1"/>
          <p:nvPr/>
        </p:nvSpPr>
        <p:spPr>
          <a:xfrm>
            <a:off x="1536192" y="335584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匈牙利算法派单</a:t>
            </a:r>
            <a:endParaRPr lang="en-US" sz="1700" dirty="0"/>
          </a:p>
        </p:txBody>
      </p:sp>
      <p:sp>
        <p:nvSpPr>
          <p:cNvPr id="13" name="algo-1-text"/>
          <p:cNvSpPr txBox="1"/>
          <p:nvPr/>
        </p:nvSpPr>
        <p:spPr>
          <a:xfrm>
            <a:off x="1536192" y="376732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 2 s 把“空车 × 订单”建成代价矩阵求全局最优匹配，代价 = 接驾距离 − 等待时间权重</a:t>
            </a:r>
            <a:endParaRPr lang="en-US" sz="1300" dirty="0"/>
          </a:p>
        </p:txBody>
      </p:sp>
      <p:sp>
        <p:nvSpPr>
          <p:cNvPr id="14" name="algo-2"/>
          <p:cNvSpPr/>
          <p:nvPr/>
        </p:nvSpPr>
        <p:spPr>
          <a:xfrm>
            <a:off x="548640" y="4754880"/>
            <a:ext cx="5212080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5" name="algo-2-circle"/>
          <p:cNvSpPr/>
          <p:nvPr/>
        </p:nvSpPr>
        <p:spPr>
          <a:xfrm>
            <a:off x="777240" y="516636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algo-2-icon" descr="algo-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400" y="5303520"/>
            <a:ext cx="274320" cy="274320"/>
          </a:xfrm>
          <a:prstGeom prst="rect">
            <a:avLst/>
          </a:prstGeom>
        </p:spPr>
      </p:pic>
      <p:sp>
        <p:nvSpPr>
          <p:cNvPr id="17" name="algo-2-title"/>
          <p:cNvSpPr txBox="1"/>
          <p:nvPr/>
        </p:nvSpPr>
        <p:spPr>
          <a:xfrm>
            <a:off x="1536192" y="4910328"/>
            <a:ext cx="40233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</a:rPr>
              <a:t>空车调度</a:t>
            </a:r>
            <a:endParaRPr lang="en-US" sz="1700" dirty="0"/>
          </a:p>
        </p:txBody>
      </p:sp>
      <p:sp>
        <p:nvSpPr>
          <p:cNvPr id="18" name="algo-2-text"/>
          <p:cNvSpPr txBox="1"/>
          <p:nvPr/>
        </p:nvSpPr>
        <p:spPr>
          <a:xfrm>
            <a:off x="1536192" y="5321808"/>
            <a:ext cx="4023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9 × 9 格分区预测需求（τ = 180 s 衰减），把多余的空车提前调往即将缺车的区域</a:t>
            </a:r>
            <a:endParaRPr lang="en-US" sz="1300" dirty="0"/>
          </a:p>
        </p:txBody>
      </p:sp>
      <p:graphicFrame>
        <p:nvGraphicFramePr>
          <p:cNvPr id="19" name="dispatch-chart" descr=""/>
          <p:cNvGraphicFramePr/>
          <p:nvPr/>
        </p:nvGraphicFramePr>
        <p:xfrm>
          <a:off x="6126480" y="1645920"/>
          <a:ext cx="5516575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20" name="dispatch-stats"/>
          <p:cNvSpPr/>
          <p:nvPr/>
        </p:nvSpPr>
        <p:spPr>
          <a:xfrm>
            <a:off x="6126480" y="4754880"/>
            <a:ext cx="5516575" cy="137160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21" name="stat2-0-num"/>
          <p:cNvSpPr txBox="1"/>
          <p:nvPr/>
        </p:nvSpPr>
        <p:spPr>
          <a:xfrm>
            <a:off x="6400800" y="4892040"/>
            <a:ext cx="2392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−45%</a:t>
            </a:r>
            <a:endParaRPr lang="en-US" sz="3600" dirty="0"/>
          </a:p>
        </p:txBody>
      </p:sp>
      <p:sp>
        <p:nvSpPr>
          <p:cNvPr id="22" name="stat2-0-label"/>
          <p:cNvSpPr txBox="1"/>
          <p:nvPr/>
        </p:nvSpPr>
        <p:spPr>
          <a:xfrm>
            <a:off x="6400800" y="5513832"/>
            <a:ext cx="2392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16 车 16 单/分时的平均等待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匈牙利 38.6 s，贪心 70.4 s</a:t>
            </a:r>
            <a:endParaRPr lang="en-US" sz="1300" dirty="0"/>
          </a:p>
        </p:txBody>
      </p:sp>
      <p:sp>
        <p:nvSpPr>
          <p:cNvPr id="23" name="stat2-1-num"/>
          <p:cNvSpPr txBox="1"/>
          <p:nvPr/>
        </p:nvSpPr>
        <p:spPr>
          <a:xfrm>
            <a:off x="9159088" y="4892040"/>
            <a:ext cx="239252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</a:rPr>
              <a:t>−20%</a:t>
            </a:r>
            <a:endParaRPr lang="en-US" sz="3600" dirty="0"/>
          </a:p>
        </p:txBody>
      </p:sp>
      <p:sp>
        <p:nvSpPr>
          <p:cNvPr id="24" name="stat2-1-label"/>
          <p:cNvSpPr txBox="1"/>
          <p:nvPr/>
        </p:nvSpPr>
        <p:spPr>
          <a:xfrm>
            <a:off x="9159088" y="5513832"/>
            <a:ext cx="23925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潮汐需求下开启空车调度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4 单/分，8 个种子配对比较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03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安全与感知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车辆只能驶入服务端授权的格子；未知障碍由每辆车的模拟激光雷达发现，再写入全局地图</a:t>
            </a:r>
            <a:endParaRPr lang="en-US" sz="1600" dirty="0"/>
          </a:p>
        </p:txBody>
      </p:sp>
      <p:pic>
        <p:nvPicPr>
          <p:cNvPr id="4" name="overview-2d" descr="2D 主界面截图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852160" cy="3657600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overview-caption"/>
          <p:cNvSpPr txBox="1"/>
          <p:nvPr/>
        </p:nvSpPr>
        <p:spPr>
          <a:xfrm>
            <a:off x="548640" y="541324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2D 主界面：车前方的浅色格子是行驶授权，任意两车互不重叠；扇形为激光雷达扫描范围</a:t>
            </a:r>
            <a:endParaRPr lang="en-US" sz="1200" dirty="0"/>
          </a:p>
        </p:txBody>
      </p:sp>
      <p:sp>
        <p:nvSpPr>
          <p:cNvPr id="6" name="permit-panel"/>
          <p:cNvSpPr/>
          <p:nvPr/>
        </p:nvSpPr>
        <p:spPr>
          <a:xfrm>
            <a:off x="6720840" y="1645920"/>
            <a:ext cx="4922215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7" name="permit-title"/>
          <p:cNvSpPr txBox="1"/>
          <p:nvPr/>
        </p:nvSpPr>
        <p:spPr>
          <a:xfrm>
            <a:off x="6995160" y="179222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移动授权：一格一车</a:t>
            </a:r>
            <a:endParaRPr lang="en-US" sz="1600" dirty="0"/>
          </a:p>
        </p:txBody>
      </p:sp>
      <p:sp>
        <p:nvSpPr>
          <p:cNvPr id="8" name="permit-road"/>
          <p:cNvSpPr/>
          <p:nvPr/>
        </p:nvSpPr>
        <p:spPr>
          <a:xfrm>
            <a:off x="6995160" y="2249424"/>
            <a:ext cx="4373575" cy="507326"/>
          </a:xfrm>
          <a:prstGeom prst="rect">
            <a:avLst/>
          </a:prstGeom>
          <a:solidFill>
            <a:schemeClr val="tx2"/>
          </a:solidFill>
          <a:ln/>
        </p:spPr>
      </p:sp>
      <p:sp>
        <p:nvSpPr>
          <p:cNvPr id="9" name="permit-cell-0"/>
          <p:cNvSpPr/>
          <p:nvPr/>
        </p:nvSpPr>
        <p:spPr>
          <a:xfrm>
            <a:off x="7022592" y="2304288"/>
            <a:ext cx="342734" cy="397598"/>
          </a:xfrm>
          <a:prstGeom prst="rect">
            <a:avLst/>
          </a:prstGeom>
          <a:solidFill>
            <a:schemeClr val="accent1"/>
          </a:solidFill>
          <a:ln/>
        </p:spPr>
      </p:sp>
      <p:pic>
        <p:nvPicPr>
          <p:cNvPr id="10" name="permit-carA" descr="车 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54800" y="2363928"/>
            <a:ext cx="278318" cy="278318"/>
          </a:xfrm>
          <a:prstGeom prst="rect">
            <a:avLst/>
          </a:prstGeom>
        </p:spPr>
      </p:pic>
      <p:sp>
        <p:nvSpPr>
          <p:cNvPr id="11" name="permit-cell-1"/>
          <p:cNvSpPr/>
          <p:nvPr/>
        </p:nvSpPr>
        <p:spPr>
          <a:xfrm>
            <a:off x="7420190" y="2304288"/>
            <a:ext cx="342734" cy="39759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2" name="permit-cell-2"/>
          <p:cNvSpPr/>
          <p:nvPr/>
        </p:nvSpPr>
        <p:spPr>
          <a:xfrm>
            <a:off x="7817787" y="2304288"/>
            <a:ext cx="342734" cy="39759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3" name="permit-cell-3"/>
          <p:cNvSpPr/>
          <p:nvPr/>
        </p:nvSpPr>
        <p:spPr>
          <a:xfrm>
            <a:off x="8215385" y="2304288"/>
            <a:ext cx="342734" cy="397598"/>
          </a:xfrm>
          <a:prstGeom prst="rect">
            <a:avLst/>
          </a:prstGeom>
          <a:solidFill>
            <a:schemeClr val="accent4"/>
          </a:solidFill>
          <a:ln/>
        </p:spPr>
      </p:sp>
      <p:sp>
        <p:nvSpPr>
          <p:cNvPr id="14" name="permit-cell-4"/>
          <p:cNvSpPr/>
          <p:nvPr/>
        </p:nvSpPr>
        <p:spPr>
          <a:xfrm>
            <a:off x="8612983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15" name="permit-cell-5"/>
          <p:cNvSpPr/>
          <p:nvPr/>
        </p:nvSpPr>
        <p:spPr>
          <a:xfrm>
            <a:off x="9010581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16" name="permit-cell-6"/>
          <p:cNvSpPr/>
          <p:nvPr/>
        </p:nvSpPr>
        <p:spPr>
          <a:xfrm>
            <a:off x="9408178" y="2304288"/>
            <a:ext cx="342734" cy="397598"/>
          </a:xfrm>
          <a:prstGeom prst="rect">
            <a:avLst/>
          </a:prstGeom>
          <a:solidFill>
            <a:schemeClr val="accent2"/>
          </a:solidFill>
          <a:ln/>
        </p:spPr>
      </p:sp>
      <p:pic>
        <p:nvPicPr>
          <p:cNvPr id="17" name="permit-carB" descr="车 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440386" y="2363928"/>
            <a:ext cx="278318" cy="278318"/>
          </a:xfrm>
          <a:prstGeom prst="rect">
            <a:avLst/>
          </a:prstGeom>
        </p:spPr>
      </p:pic>
      <p:sp>
        <p:nvSpPr>
          <p:cNvPr id="18" name="permit-cell-7"/>
          <p:cNvSpPr/>
          <p:nvPr/>
        </p:nvSpPr>
        <p:spPr>
          <a:xfrm>
            <a:off x="9805776" y="2304288"/>
            <a:ext cx="342734" cy="39759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19" name="permit-cell-8"/>
          <p:cNvSpPr/>
          <p:nvPr/>
        </p:nvSpPr>
        <p:spPr>
          <a:xfrm>
            <a:off x="10203374" y="2304288"/>
            <a:ext cx="342734" cy="397598"/>
          </a:xfrm>
          <a:prstGeom prst="rect">
            <a:avLst/>
          </a:prstGeom>
          <a:solidFill>
            <a:schemeClr val="accent6"/>
          </a:solidFill>
          <a:ln/>
        </p:spPr>
      </p:sp>
      <p:sp>
        <p:nvSpPr>
          <p:cNvPr id="20" name="permit-cell-9"/>
          <p:cNvSpPr/>
          <p:nvPr/>
        </p:nvSpPr>
        <p:spPr>
          <a:xfrm>
            <a:off x="10600972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21" name="permit-cell-10"/>
          <p:cNvSpPr/>
          <p:nvPr/>
        </p:nvSpPr>
        <p:spPr>
          <a:xfrm>
            <a:off x="10998569" y="2304288"/>
            <a:ext cx="342734" cy="397598"/>
          </a:xfrm>
          <a:prstGeom prst="rect">
            <a:avLst/>
          </a:prstGeom>
          <a:solidFill>
            <a:schemeClr val="bg1">
              <a:alpha val="30000"/>
            </a:schemeClr>
          </a:solidFill>
          <a:ln/>
        </p:spPr>
      </p:sp>
      <p:sp>
        <p:nvSpPr>
          <p:cNvPr id="22" name="permit-stop"/>
          <p:cNvSpPr/>
          <p:nvPr/>
        </p:nvSpPr>
        <p:spPr>
          <a:xfrm>
            <a:off x="8457535" y="2194560"/>
            <a:ext cx="45720" cy="617054"/>
          </a:xfrm>
          <a:prstGeom prst="rect">
            <a:avLst/>
          </a:prstGeom>
          <a:solidFill>
            <a:schemeClr val="accent1"/>
          </a:solidFill>
          <a:ln/>
        </p:spPr>
      </p:sp>
      <p:sp>
        <p:nvSpPr>
          <p:cNvPr id="23" name="permit-label-a"/>
          <p:cNvSpPr txBox="1"/>
          <p:nvPr/>
        </p:nvSpPr>
        <p:spPr>
          <a:xfrm>
            <a:off x="7392758" y="2811614"/>
            <a:ext cx="1192793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A 的授权</a:t>
            </a:r>
            <a:endParaRPr lang="en-US" sz="1300" dirty="0"/>
          </a:p>
        </p:txBody>
      </p:sp>
      <p:sp>
        <p:nvSpPr>
          <p:cNvPr id="24" name="permit-label-b"/>
          <p:cNvSpPr txBox="1"/>
          <p:nvPr/>
        </p:nvSpPr>
        <p:spPr>
          <a:xfrm>
            <a:off x="9778344" y="2811614"/>
            <a:ext cx="7951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B 的授权</a:t>
            </a:r>
            <a:endParaRPr lang="en-US" sz="1300" dirty="0"/>
          </a:p>
        </p:txBody>
      </p:sp>
      <p:sp>
        <p:nvSpPr>
          <p:cNvPr id="25" name="permit-text"/>
          <p:cNvSpPr txBox="1"/>
          <p:nvPr/>
        </p:nvSpPr>
        <p:spPr>
          <a:xfrm>
            <a:off x="6995160" y="3159086"/>
            <a:ext cx="4373575" cy="52137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橙线是 A 的停车点；路口整段 + 出口格一次申请，不堵路口；受阻 3 s 优先、12 s 绕行，没有死锁</a:t>
            </a:r>
            <a:endParaRPr lang="en-US" sz="1300" dirty="0"/>
          </a:p>
        </p:txBody>
      </p:sp>
      <p:sp>
        <p:nvSpPr>
          <p:cNvPr id="26" name="sense-panel"/>
          <p:cNvSpPr/>
          <p:nvPr/>
        </p:nvSpPr>
        <p:spPr>
          <a:xfrm>
            <a:off x="6720840" y="4000500"/>
            <a:ext cx="4922215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27" name="sense-title"/>
          <p:cNvSpPr txBox="1"/>
          <p:nvPr/>
        </p:nvSpPr>
        <p:spPr>
          <a:xfrm>
            <a:off x="6995160" y="4146804"/>
            <a:ext cx="43735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感知建图：发现未知障碍</a:t>
            </a:r>
            <a:endParaRPr lang="en-US" sz="1600" dirty="0"/>
          </a:p>
        </p:txBody>
      </p:sp>
      <p:sp>
        <p:nvSpPr>
          <p:cNvPr id="28" name="sense-step-0"/>
          <p:cNvSpPr/>
          <p:nvPr/>
        </p:nvSpPr>
        <p:spPr>
          <a:xfrm>
            <a:off x="6995160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/>
        </p:spPr>
      </p:sp>
      <p:sp>
        <p:nvSpPr>
          <p:cNvPr id="29" name="sense-step-0-text"/>
          <p:cNvSpPr txBox="1"/>
          <p:nvPr/>
        </p:nvSpPr>
        <p:spPr>
          <a:xfrm>
            <a:off x="7040880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激光雷达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48 束 3 m</a:t>
            </a:r>
            <a:endParaRPr lang="en-US" sz="1300" dirty="0"/>
          </a:p>
        </p:txBody>
      </p:sp>
      <p:sp>
        <p:nvSpPr>
          <p:cNvPr id="30" name="sense-arrow-0"/>
          <p:cNvSpPr/>
          <p:nvPr/>
        </p:nvSpPr>
        <p:spPr>
          <a:xfrm>
            <a:off x="7992542" y="4978908"/>
            <a:ext cx="914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1" name="sense-step-1"/>
          <p:cNvSpPr/>
          <p:nvPr/>
        </p:nvSpPr>
        <p:spPr>
          <a:xfrm>
            <a:off x="8138846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/>
        </p:spPr>
      </p:sp>
      <p:sp>
        <p:nvSpPr>
          <p:cNvPr id="32" name="sense-step-1-text"/>
          <p:cNvSpPr txBox="1"/>
          <p:nvPr/>
        </p:nvSpPr>
        <p:spPr>
          <a:xfrm>
            <a:off x="8184566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占据栅格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累计证据</a:t>
            </a:r>
            <a:endParaRPr lang="en-US" sz="1300" dirty="0"/>
          </a:p>
        </p:txBody>
      </p:sp>
      <p:sp>
        <p:nvSpPr>
          <p:cNvPr id="33" name="sense-arrow-1"/>
          <p:cNvSpPr/>
          <p:nvPr/>
        </p:nvSpPr>
        <p:spPr>
          <a:xfrm>
            <a:off x="9136228" y="4978908"/>
            <a:ext cx="914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4" name="sense-step-2"/>
          <p:cNvSpPr/>
          <p:nvPr/>
        </p:nvSpPr>
        <p:spPr>
          <a:xfrm>
            <a:off x="9282532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bg2"/>
          </a:solidFill>
          <a:ln/>
        </p:spPr>
      </p:sp>
      <p:sp>
        <p:nvSpPr>
          <p:cNvPr id="35" name="sense-step-2-text"/>
          <p:cNvSpPr txBox="1"/>
          <p:nvPr/>
        </p:nvSpPr>
        <p:spPr>
          <a:xfrm>
            <a:off x="9328252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写入地图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收回授权</a:t>
            </a:r>
            <a:endParaRPr lang="en-US" sz="1300" dirty="0"/>
          </a:p>
        </p:txBody>
      </p:sp>
      <p:sp>
        <p:nvSpPr>
          <p:cNvPr id="36" name="sense-arrow-2"/>
          <p:cNvSpPr/>
          <p:nvPr/>
        </p:nvSpPr>
        <p:spPr>
          <a:xfrm>
            <a:off x="10279913" y="4978908"/>
            <a:ext cx="91440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37" name="sense-step-3"/>
          <p:cNvSpPr/>
          <p:nvPr/>
        </p:nvSpPr>
        <p:spPr>
          <a:xfrm>
            <a:off x="10426217" y="4622292"/>
            <a:ext cx="942518" cy="713232"/>
          </a:xfrm>
          <a:prstGeom prst="roundRect">
            <a:avLst>
              <a:gd name="adj" fmla="val 12821"/>
            </a:avLst>
          </a:prstGeom>
          <a:solidFill>
            <a:schemeClr val="accent3"/>
          </a:solidFill>
          <a:ln/>
        </p:spPr>
      </p:sp>
      <p:sp>
        <p:nvSpPr>
          <p:cNvPr id="38" name="sense-step-3-text"/>
          <p:cNvSpPr txBox="1"/>
          <p:nvPr/>
        </p:nvSpPr>
        <p:spPr>
          <a:xfrm>
            <a:off x="10471937" y="4622292"/>
            <a:ext cx="85107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车辆绕行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或掉头</a:t>
            </a:r>
            <a:endParaRPr lang="en-US" sz="1300" dirty="0"/>
          </a:p>
        </p:txBody>
      </p:sp>
      <p:sp>
        <p:nvSpPr>
          <p:cNvPr id="39" name="sense-stat-0-num"/>
          <p:cNvSpPr txBox="1"/>
          <p:nvPr/>
        </p:nvSpPr>
        <p:spPr>
          <a:xfrm>
            <a:off x="6995160" y="53721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30.9 s</a:t>
            </a:r>
            <a:endParaRPr lang="en-US" sz="2400" dirty="0"/>
          </a:p>
        </p:txBody>
      </p:sp>
      <p:sp>
        <p:nvSpPr>
          <p:cNvPr id="40" name="sense-stat-0-label"/>
          <p:cNvSpPr txBox="1"/>
          <p:nvPr/>
        </p:nvSpPr>
        <p:spPr>
          <a:xfrm>
            <a:off x="6995160" y="58110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障碍出现到被发现（平均）</a:t>
            </a:r>
            <a:endParaRPr lang="en-US" sz="1300" dirty="0"/>
          </a:p>
        </p:txBody>
      </p:sp>
      <p:sp>
        <p:nvSpPr>
          <p:cNvPr id="41" name="sense-stat-1-num"/>
          <p:cNvSpPr txBox="1"/>
          <p:nvPr/>
        </p:nvSpPr>
        <p:spPr>
          <a:xfrm>
            <a:off x="9181948" y="537210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400" b="1" dirty="0">
                <a:solidFill>
                  <a:schemeClr val="accent2"/>
                </a:solidFill>
              </a:rPr>
              <a:t>0 误检</a:t>
            </a:r>
            <a:endParaRPr lang="en-US" sz="2400" dirty="0"/>
          </a:p>
        </p:txBody>
      </p:sp>
      <p:sp>
        <p:nvSpPr>
          <p:cNvPr id="42" name="sense-stat-1-label"/>
          <p:cNvSpPr txBox="1"/>
          <p:nvPr/>
        </p:nvSpPr>
        <p:spPr>
          <a:xfrm>
            <a:off x="9181948" y="5811012"/>
            <a:ext cx="21031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车停在障碍前 0.08 m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04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手机与端云互动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按课程要求手机模拟一辆车：路线由服务端规划，人走路的速度就是油门</a:t>
            </a:r>
            <a:endParaRPr lang="en-US" sz="1600" dirty="0"/>
          </a:p>
        </p:txBody>
      </p:sp>
      <p:sp>
        <p:nvSpPr>
          <p:cNvPr id="4" name="drive-label"/>
          <p:cNvSpPr txBox="1"/>
          <p:nvPr/>
        </p:nvSpPr>
        <p:spPr>
          <a:xfrm>
            <a:off x="548640" y="16459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走路驾驶：手机 = 模拟车 car-6</a:t>
            </a:r>
            <a:endParaRPr lang="en-US" sz="1600" dirty="0"/>
          </a:p>
        </p:txBody>
      </p:sp>
      <p:sp>
        <p:nvSpPr>
          <p:cNvPr id="5" name="drive-step-0"/>
          <p:cNvSpPr/>
          <p:nvPr/>
        </p:nvSpPr>
        <p:spPr>
          <a:xfrm>
            <a:off x="54864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6" name="drive-step-0-text"/>
          <p:cNvSpPr txBox="1"/>
          <p:nvPr/>
        </p:nvSpPr>
        <p:spPr>
          <a:xfrm>
            <a:off x="59436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加速度计步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Weinberg 步长</a:t>
            </a:r>
            <a:endParaRPr lang="en-US" sz="1400" dirty="0"/>
          </a:p>
        </p:txBody>
      </p:sp>
      <p:sp>
        <p:nvSpPr>
          <p:cNvPr id="7" name="drive-arrow-0"/>
          <p:cNvSpPr/>
          <p:nvPr/>
        </p:nvSpPr>
        <p:spPr>
          <a:xfrm>
            <a:off x="2123694" y="25603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8" name="drive-step-1"/>
          <p:cNvSpPr/>
          <p:nvPr/>
        </p:nvSpPr>
        <p:spPr>
          <a:xfrm>
            <a:off x="238887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9" name="drive-step-1-text"/>
          <p:cNvSpPr txBox="1"/>
          <p:nvPr/>
        </p:nvSpPr>
        <p:spPr>
          <a:xfrm>
            <a:off x="243459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走路速度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步长 × 步频</a:t>
            </a:r>
            <a:endParaRPr lang="en-US" sz="1400" dirty="0"/>
          </a:p>
        </p:txBody>
      </p:sp>
      <p:sp>
        <p:nvSpPr>
          <p:cNvPr id="10" name="drive-arrow-1"/>
          <p:cNvSpPr/>
          <p:nvPr/>
        </p:nvSpPr>
        <p:spPr>
          <a:xfrm>
            <a:off x="3963924" y="25603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1" name="drive-step-2"/>
          <p:cNvSpPr/>
          <p:nvPr/>
        </p:nvSpPr>
        <p:spPr>
          <a:xfrm>
            <a:off x="422910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2" name="drive-step-2-text"/>
          <p:cNvSpPr txBox="1"/>
          <p:nvPr/>
        </p:nvSpPr>
        <p:spPr>
          <a:xfrm>
            <a:off x="427482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× 驾驶比例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= 期望车速</a:t>
            </a:r>
            <a:endParaRPr lang="en-US" sz="1400" dirty="0"/>
          </a:p>
        </p:txBody>
      </p:sp>
      <p:sp>
        <p:nvSpPr>
          <p:cNvPr id="13" name="drive-arrow-2"/>
          <p:cNvSpPr/>
          <p:nvPr/>
        </p:nvSpPr>
        <p:spPr>
          <a:xfrm>
            <a:off x="5804154" y="25603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4" name="drive-step-3"/>
          <p:cNvSpPr/>
          <p:nvPr/>
        </p:nvSpPr>
        <p:spPr>
          <a:xfrm>
            <a:off x="6069330" y="21031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15" name="drive-step-3-text"/>
          <p:cNvSpPr txBox="1"/>
          <p:nvPr/>
        </p:nvSpPr>
        <p:spPr>
          <a:xfrm>
            <a:off x="6115050" y="21031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沿路线前进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不越过停车点</a:t>
            </a:r>
            <a:endParaRPr lang="en-US" sz="1400" dirty="0"/>
          </a:p>
        </p:txBody>
      </p:sp>
      <p:sp>
        <p:nvSpPr>
          <p:cNvPr id="16" name="vision-label"/>
          <p:cNvSpPr txBox="1"/>
          <p:nvPr/>
        </p:nvSpPr>
        <p:spPr>
          <a:xfrm>
            <a:off x="548640" y="3246120"/>
            <a:ext cx="7040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端云互动：手机只拍照，重型图像处理在服务端</a:t>
            </a:r>
            <a:endParaRPr lang="en-US" sz="1600" dirty="0"/>
          </a:p>
        </p:txBody>
      </p:sp>
      <p:sp>
        <p:nvSpPr>
          <p:cNvPr id="17" name="vision-step-0"/>
          <p:cNvSpPr/>
          <p:nvPr/>
        </p:nvSpPr>
        <p:spPr>
          <a:xfrm>
            <a:off x="54864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18" name="vision-step-0-text"/>
          <p:cNvSpPr txBox="1"/>
          <p:nvPr/>
        </p:nvSpPr>
        <p:spPr>
          <a:xfrm>
            <a:off x="59436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手机拍照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上传</a:t>
            </a:r>
            <a:endParaRPr lang="en-US" sz="1400" dirty="0"/>
          </a:p>
        </p:txBody>
      </p:sp>
      <p:sp>
        <p:nvSpPr>
          <p:cNvPr id="19" name="vision-arrow-0"/>
          <p:cNvSpPr/>
          <p:nvPr/>
        </p:nvSpPr>
        <p:spPr>
          <a:xfrm>
            <a:off x="2123694" y="41605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0" name="vision-step-1"/>
          <p:cNvSpPr/>
          <p:nvPr/>
        </p:nvSpPr>
        <p:spPr>
          <a:xfrm>
            <a:off x="238887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1" name="vision-step-1-text"/>
          <p:cNvSpPr txBox="1"/>
          <p:nvPr/>
        </p:nvSpPr>
        <p:spPr>
          <a:xfrm>
            <a:off x="243459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HSV 分割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+ 连通域</a:t>
            </a:r>
            <a:endParaRPr lang="en-US" sz="1400" dirty="0"/>
          </a:p>
        </p:txBody>
      </p:sp>
      <p:sp>
        <p:nvSpPr>
          <p:cNvPr id="22" name="vision-arrow-1"/>
          <p:cNvSpPr/>
          <p:nvPr/>
        </p:nvSpPr>
        <p:spPr>
          <a:xfrm>
            <a:off x="3963924" y="41605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3" name="vision-step-2"/>
          <p:cNvSpPr/>
          <p:nvPr/>
        </p:nvSpPr>
        <p:spPr>
          <a:xfrm>
            <a:off x="422910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bg2"/>
          </a:solidFill>
          <a:ln/>
        </p:spPr>
      </p:sp>
      <p:sp>
        <p:nvSpPr>
          <p:cNvPr id="24" name="vision-step-2-text"/>
          <p:cNvSpPr txBox="1"/>
          <p:nvPr/>
        </p:nvSpPr>
        <p:spPr>
          <a:xfrm>
            <a:off x="427482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针孔模型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测距落格</a:t>
            </a:r>
            <a:endParaRPr lang="en-US" sz="1400" dirty="0"/>
          </a:p>
        </p:txBody>
      </p:sp>
      <p:sp>
        <p:nvSpPr>
          <p:cNvPr id="25" name="vision-arrow-2"/>
          <p:cNvSpPr/>
          <p:nvPr/>
        </p:nvSpPr>
        <p:spPr>
          <a:xfrm>
            <a:off x="5804154" y="4160520"/>
            <a:ext cx="210312" cy="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6" name="vision-step-3"/>
          <p:cNvSpPr/>
          <p:nvPr/>
        </p:nvSpPr>
        <p:spPr>
          <a:xfrm>
            <a:off x="6069330" y="3703320"/>
            <a:ext cx="1520190" cy="914400"/>
          </a:xfrm>
          <a:prstGeom prst="roundRect">
            <a:avLst>
              <a:gd name="adj" fmla="val 10000"/>
            </a:avLst>
          </a:prstGeom>
          <a:solidFill>
            <a:schemeClr val="accent3"/>
          </a:solidFill>
          <a:ln/>
        </p:spPr>
      </p:sp>
      <p:sp>
        <p:nvSpPr>
          <p:cNvPr id="27" name="vision-step-3-text"/>
          <p:cNvSpPr txBox="1"/>
          <p:nvPr/>
        </p:nvSpPr>
        <p:spPr>
          <a:xfrm>
            <a:off x="6115050" y="3703320"/>
            <a:ext cx="142875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写入地图</a:t>
            </a:r>
            <a:endParaRPr lang="en-US" sz="1400" dirty="0"/>
          </a:p>
          <a:p>
            <a:pPr algn="ctr" indent="0" marL="0">
              <a:buNone/>
            </a:pPr>
            <a:r>
              <a:rPr lang="en-US" sz="1400" dirty="0">
                <a:solidFill>
                  <a:schemeClr val="bg1"/>
                </a:solidFill>
              </a:rPr>
              <a:t>车辆绕行</a:t>
            </a:r>
            <a:endParaRPr lang="en-US" sz="1400" dirty="0"/>
          </a:p>
        </p:txBody>
      </p:sp>
      <p:sp>
        <p:nvSpPr>
          <p:cNvPr id="28" name="stat4-0-num"/>
          <p:cNvSpPr txBox="1"/>
          <p:nvPr/>
        </p:nvSpPr>
        <p:spPr>
          <a:xfrm>
            <a:off x="548640" y="4892040"/>
            <a:ext cx="2164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≤ 1 步</a:t>
            </a:r>
            <a:endParaRPr lang="en-US" sz="3200" dirty="0"/>
          </a:p>
        </p:txBody>
      </p:sp>
      <p:sp>
        <p:nvSpPr>
          <p:cNvPr id="29" name="stat4-0-label"/>
          <p:cNvSpPr txBox="1"/>
          <p:nvPr/>
        </p:nvSpPr>
        <p:spPr>
          <a:xfrm>
            <a:off x="548640" y="5452872"/>
            <a:ext cx="216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计步误差（慢走、快走、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竖拿、斜拿）</a:t>
            </a:r>
            <a:endParaRPr lang="en-US" sz="1300" dirty="0"/>
          </a:p>
        </p:txBody>
      </p:sp>
      <p:sp>
        <p:nvSpPr>
          <p:cNvPr id="30" name="stat4-1-num"/>
          <p:cNvSpPr txBox="1"/>
          <p:nvPr/>
        </p:nvSpPr>
        <p:spPr>
          <a:xfrm>
            <a:off x="2895600" y="4892040"/>
            <a:ext cx="2164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0.10 m</a:t>
            </a:r>
            <a:endParaRPr lang="en-US" sz="3200" dirty="0"/>
          </a:p>
        </p:txBody>
      </p:sp>
      <p:sp>
        <p:nvSpPr>
          <p:cNvPr id="31" name="stat4-1-label"/>
          <p:cNvSpPr txBox="1"/>
          <p:nvPr/>
        </p:nvSpPr>
        <p:spPr>
          <a:xfrm>
            <a:off x="2895600" y="5452872"/>
            <a:ext cx="216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手机与服务端看到的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车位置平均相差</a:t>
            </a:r>
            <a:endParaRPr lang="en-US" sz="1300" dirty="0"/>
          </a:p>
        </p:txBody>
      </p:sp>
      <p:sp>
        <p:nvSpPr>
          <p:cNvPr id="32" name="stat4-2-num"/>
          <p:cNvSpPr txBox="1"/>
          <p:nvPr/>
        </p:nvSpPr>
        <p:spPr>
          <a:xfrm>
            <a:off x="5242560" y="4892040"/>
            <a:ext cx="2164080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chemeClr val="accent1"/>
                </a:solidFill>
              </a:rPr>
              <a:t>1.4×</a:t>
            </a:r>
            <a:endParaRPr lang="en-US" sz="3200" dirty="0"/>
          </a:p>
        </p:txBody>
      </p:sp>
      <p:sp>
        <p:nvSpPr>
          <p:cNvPr id="33" name="stat4-2-label"/>
          <p:cNvSpPr txBox="1"/>
          <p:nvPr/>
        </p:nvSpPr>
        <p:spPr>
          <a:xfrm>
            <a:off x="5242560" y="5452872"/>
            <a:ext cx="2164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大图并行加速（2 核）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端到端识别约 30 ms</a:t>
            </a:r>
            <a:endParaRPr lang="en-US" sz="1300" dirty="0"/>
          </a:p>
        </p:txBody>
      </p:sp>
      <p:pic>
        <p:nvPicPr>
          <p:cNvPr id="34" name="phone-minimap" descr="手机 App 小地图截图：我的车与路线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955280" y="1645920"/>
            <a:ext cx="3687775" cy="2153445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35" name="minimap-caption"/>
          <p:cNvSpPr txBox="1"/>
          <p:nvPr/>
        </p:nvSpPr>
        <p:spPr>
          <a:xfrm>
            <a:off x="7955280" y="3890805"/>
            <a:ext cx="3687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App 小地图：我的车、路线和授权停车点</a:t>
            </a:r>
            <a:endParaRPr lang="en-US" sz="1200" dirty="0"/>
          </a:p>
        </p:txBody>
      </p:sp>
      <p:sp>
        <p:nvSpPr>
          <p:cNvPr id="36" name="phone-note-0-circle"/>
          <p:cNvSpPr/>
          <p:nvPr/>
        </p:nvSpPr>
        <p:spPr>
          <a:xfrm>
            <a:off x="7955280" y="44348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37" name="phone-note-0-icon" descr="phone-note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1010" y="4560570"/>
            <a:ext cx="251460" cy="251460"/>
          </a:xfrm>
          <a:prstGeom prst="rect">
            <a:avLst/>
          </a:prstGeom>
        </p:spPr>
      </p:pic>
      <p:sp>
        <p:nvSpPr>
          <p:cNvPr id="38" name="phone-note-0-text"/>
          <p:cNvSpPr txBox="1"/>
          <p:nvPr/>
        </p:nvSpPr>
        <p:spPr>
          <a:xfrm>
            <a:off x="8641080" y="434340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走快车快、停下车停；受弯道限速和刹车曲线约束，断线 3 s 由内部仿真接管</a:t>
            </a:r>
            <a:endParaRPr lang="en-US" sz="1300" dirty="0"/>
          </a:p>
        </p:txBody>
      </p:sp>
      <p:sp>
        <p:nvSpPr>
          <p:cNvPr id="39" name="phone-note-1-circle"/>
          <p:cNvSpPr/>
          <p:nvPr/>
        </p:nvSpPr>
        <p:spPr>
          <a:xfrm>
            <a:off x="7955280" y="53492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40" name="phone-note-1-icon" descr="phone-note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81010" y="5474970"/>
            <a:ext cx="251460" cy="251460"/>
          </a:xfrm>
          <a:prstGeom prst="rect">
            <a:avLst/>
          </a:prstGeom>
        </p:spPr>
      </p:pic>
      <p:sp>
        <p:nvSpPr>
          <p:cNvPr id="41" name="phone-note-1-text"/>
          <p:cNvSpPr txBox="1"/>
          <p:nvPr/>
        </p:nvSpPr>
        <p:spPr>
          <a:xfrm>
            <a:off x="8641080" y="5257800"/>
            <a:ext cx="300197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陀螺仪航向 + 零偏估计，室外融合磁力计与北斗 / GPS，估计并记录人的位姿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05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挑战与评估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课程的六个挑战项全部完成；16 车高负载运行 6 小时零碰撞</a:t>
            </a:r>
            <a:endParaRPr lang="en-US" sz="1600" dirty="0"/>
          </a:p>
        </p:txBody>
      </p:sp>
      <p:pic>
        <p:nvPicPr>
          <p:cNvPr id="4" name="gazebo-shot" descr="Gazebo 截图：俯视与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45920"/>
            <a:ext cx="5577840" cy="1728652"/>
          </a:xfrm>
          <a:prstGeom prst="rect">
            <a:avLst/>
          </a:prstGeom>
          <a:effectLst>
            <a:outerShdw sx="100000" sy="100000" kx="0" ky="0" algn="bl" rotWithShape="0" blurRad="127000" dist="38100" dir="5400000">
              <a:srgbClr val="000000">
                <a:alpha val="18000"/>
              </a:srgbClr>
            </a:outerShdw>
          </a:effectLst>
        </p:spPr>
      </p:pic>
      <p:sp>
        <p:nvSpPr>
          <p:cNvPr id="5" name="gazebo-caption"/>
          <p:cNvSpPr txBox="1"/>
          <p:nvPr/>
        </p:nvSpPr>
        <p:spPr>
          <a:xfrm>
            <a:off x="548640" y="3466012"/>
            <a:ext cx="5577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Gazebo Harmonic 中的 5 辆差速小车（ROS 2 桥接）：俯视与跟车视角</a:t>
            </a:r>
            <a:endParaRPr lang="en-US" sz="1200" dirty="0"/>
          </a:p>
        </p:txBody>
      </p:sp>
      <p:sp>
        <p:nvSpPr>
          <p:cNvPr id="6" name="challenge-0"/>
          <p:cNvSpPr/>
          <p:nvPr/>
        </p:nvSpPr>
        <p:spPr>
          <a:xfrm>
            <a:off x="548640" y="393192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7" name="challenge-0-circle"/>
          <p:cNvSpPr/>
          <p:nvPr/>
        </p:nvSpPr>
        <p:spPr>
          <a:xfrm>
            <a:off x="713232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8" name="challenge-0-icon" descr="challenge-0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" y="4320540"/>
            <a:ext cx="228600" cy="228600"/>
          </a:xfrm>
          <a:prstGeom prst="rect">
            <a:avLst/>
          </a:prstGeom>
        </p:spPr>
      </p:pic>
      <p:sp>
        <p:nvSpPr>
          <p:cNvPr id="9" name="challenge-0-text"/>
          <p:cNvSpPr txBox="1"/>
          <p:nvPr/>
        </p:nvSpPr>
        <p:spPr>
          <a:xfrm>
            <a:off x="1280160" y="393192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3D 可视化</a:t>
            </a:r>
            <a:endParaRPr lang="en-US" sz="1400" dirty="0"/>
          </a:p>
        </p:txBody>
      </p:sp>
      <p:sp>
        <p:nvSpPr>
          <p:cNvPr id="10" name="challenge-1"/>
          <p:cNvSpPr/>
          <p:nvPr/>
        </p:nvSpPr>
        <p:spPr>
          <a:xfrm>
            <a:off x="2468880" y="393192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1" name="challenge-1-circle"/>
          <p:cNvSpPr/>
          <p:nvPr/>
        </p:nvSpPr>
        <p:spPr>
          <a:xfrm>
            <a:off x="2633472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challenge-1-icon" descr="challenge-1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7772" y="4320540"/>
            <a:ext cx="228600" cy="228600"/>
          </a:xfrm>
          <a:prstGeom prst="rect">
            <a:avLst/>
          </a:prstGeom>
        </p:spPr>
      </p:pic>
      <p:sp>
        <p:nvSpPr>
          <p:cNvPr id="13" name="challenge-1-text"/>
          <p:cNvSpPr txBox="1"/>
          <p:nvPr/>
        </p:nvSpPr>
        <p:spPr>
          <a:xfrm>
            <a:off x="3200400" y="393192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感知建图</a:t>
            </a:r>
            <a:endParaRPr lang="en-US" sz="1400" dirty="0"/>
          </a:p>
        </p:txBody>
      </p:sp>
      <p:sp>
        <p:nvSpPr>
          <p:cNvPr id="14" name="challenge-2"/>
          <p:cNvSpPr/>
          <p:nvPr/>
        </p:nvSpPr>
        <p:spPr>
          <a:xfrm>
            <a:off x="4389120" y="393192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5" name="challenge-2-circle"/>
          <p:cNvSpPr/>
          <p:nvPr/>
        </p:nvSpPr>
        <p:spPr>
          <a:xfrm>
            <a:off x="4553712" y="42062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challenge-2-icon" descr="challenge-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8012" y="4320540"/>
            <a:ext cx="228600" cy="228600"/>
          </a:xfrm>
          <a:prstGeom prst="rect">
            <a:avLst/>
          </a:prstGeom>
        </p:spPr>
      </p:pic>
      <p:sp>
        <p:nvSpPr>
          <p:cNvPr id="17" name="challenge-2-text"/>
          <p:cNvSpPr txBox="1"/>
          <p:nvPr/>
        </p:nvSpPr>
        <p:spPr>
          <a:xfrm>
            <a:off x="5120640" y="393192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端云互动</a:t>
            </a:r>
            <a:endParaRPr lang="en-US" sz="1400" dirty="0"/>
          </a:p>
        </p:txBody>
      </p:sp>
      <p:sp>
        <p:nvSpPr>
          <p:cNvPr id="18" name="challenge-3"/>
          <p:cNvSpPr/>
          <p:nvPr/>
        </p:nvSpPr>
        <p:spPr>
          <a:xfrm>
            <a:off x="548640" y="512064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19" name="challenge-3-circle"/>
          <p:cNvSpPr/>
          <p:nvPr/>
        </p:nvSpPr>
        <p:spPr>
          <a:xfrm>
            <a:off x="713232" y="5394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challenge-3-icon" descr="challenge-3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532" y="5509260"/>
            <a:ext cx="228600" cy="228600"/>
          </a:xfrm>
          <a:prstGeom prst="rect">
            <a:avLst/>
          </a:prstGeom>
        </p:spPr>
      </p:pic>
      <p:sp>
        <p:nvSpPr>
          <p:cNvPr id="21" name="challenge-3-text"/>
          <p:cNvSpPr txBox="1"/>
          <p:nvPr/>
        </p:nvSpPr>
        <p:spPr>
          <a:xfrm>
            <a:off x="1280160" y="512064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图像加速</a:t>
            </a:r>
            <a:endParaRPr lang="en-US" sz="1400" dirty="0"/>
          </a:p>
        </p:txBody>
      </p:sp>
      <p:sp>
        <p:nvSpPr>
          <p:cNvPr id="22" name="challenge-4"/>
          <p:cNvSpPr/>
          <p:nvPr/>
        </p:nvSpPr>
        <p:spPr>
          <a:xfrm>
            <a:off x="2468880" y="512064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3" name="challenge-4-circle"/>
          <p:cNvSpPr/>
          <p:nvPr/>
        </p:nvSpPr>
        <p:spPr>
          <a:xfrm>
            <a:off x="2633472" y="5394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4" name="challenge-4-icon" descr="challenge-4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47772" y="5509260"/>
            <a:ext cx="228600" cy="228600"/>
          </a:xfrm>
          <a:prstGeom prst="rect">
            <a:avLst/>
          </a:prstGeom>
        </p:spPr>
      </p:pic>
      <p:sp>
        <p:nvSpPr>
          <p:cNvPr id="25" name="challenge-4-text"/>
          <p:cNvSpPr txBox="1"/>
          <p:nvPr/>
        </p:nvSpPr>
        <p:spPr>
          <a:xfrm>
            <a:off x="3200400" y="512064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Gazebo</a:t>
            </a:r>
            <a:endParaRPr lang="en-US" sz="1400" dirty="0"/>
          </a:p>
        </p:txBody>
      </p:sp>
      <p:sp>
        <p:nvSpPr>
          <p:cNvPr id="26" name="challenge-5"/>
          <p:cNvSpPr/>
          <p:nvPr/>
        </p:nvSpPr>
        <p:spPr>
          <a:xfrm>
            <a:off x="4389120" y="5120640"/>
            <a:ext cx="1737360" cy="1005840"/>
          </a:xfrm>
          <a:prstGeom prst="roundRect">
            <a:avLst>
              <a:gd name="adj" fmla="val 9091"/>
            </a:avLst>
          </a:prstGeom>
          <a:solidFill>
            <a:schemeClr val="bg2"/>
          </a:solidFill>
          <a:ln/>
        </p:spPr>
      </p:sp>
      <p:sp>
        <p:nvSpPr>
          <p:cNvPr id="27" name="challenge-5-circle"/>
          <p:cNvSpPr/>
          <p:nvPr/>
        </p:nvSpPr>
        <p:spPr>
          <a:xfrm>
            <a:off x="4553712" y="539496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8" name="challenge-5-icon" descr="challenge-5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68012" y="5509260"/>
            <a:ext cx="228600" cy="228600"/>
          </a:xfrm>
          <a:prstGeom prst="rect">
            <a:avLst/>
          </a:prstGeom>
        </p:spPr>
      </p:pic>
      <p:sp>
        <p:nvSpPr>
          <p:cNvPr id="29" name="challenge-5-text"/>
          <p:cNvSpPr txBox="1"/>
          <p:nvPr/>
        </p:nvSpPr>
        <p:spPr>
          <a:xfrm>
            <a:off x="5120640" y="5120640"/>
            <a:ext cx="960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空车调度</a:t>
            </a:r>
            <a:endParaRPr lang="en-US" sz="1400" dirty="0"/>
          </a:p>
        </p:txBody>
      </p:sp>
      <p:sp>
        <p:nvSpPr>
          <p:cNvPr id="30" name="stat5-0"/>
          <p:cNvSpPr/>
          <p:nvPr/>
        </p:nvSpPr>
        <p:spPr>
          <a:xfrm>
            <a:off x="6492240" y="164592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31" name="stat5-0-num"/>
          <p:cNvSpPr txBox="1"/>
          <p:nvPr/>
        </p:nvSpPr>
        <p:spPr>
          <a:xfrm>
            <a:off x="6812280" y="196596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</a:t>
            </a:r>
            <a:endParaRPr lang="en-US" sz="4400" dirty="0"/>
          </a:p>
        </p:txBody>
      </p:sp>
      <p:sp>
        <p:nvSpPr>
          <p:cNvPr id="32" name="stat5-0-label"/>
          <p:cNvSpPr txBox="1"/>
          <p:nvPr/>
        </p:nvSpPr>
        <p:spPr>
          <a:xfrm>
            <a:off x="6812280" y="270967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16 车高负载演示场景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运行 6 × 60 分钟的碰撞次数</a:t>
            </a:r>
            <a:endParaRPr lang="en-US" sz="1300" dirty="0"/>
          </a:p>
        </p:txBody>
      </p:sp>
      <p:sp>
        <p:nvSpPr>
          <p:cNvPr id="33" name="stat5-1"/>
          <p:cNvSpPr/>
          <p:nvPr/>
        </p:nvSpPr>
        <p:spPr>
          <a:xfrm>
            <a:off x="9181948" y="164592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34" name="stat5-1-num"/>
          <p:cNvSpPr txBox="1"/>
          <p:nvPr/>
        </p:nvSpPr>
        <p:spPr>
          <a:xfrm>
            <a:off x="9501988" y="196596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105</a:t>
            </a:r>
            <a:endParaRPr lang="en-US" sz="4400" dirty="0"/>
          </a:p>
        </p:txBody>
      </p:sp>
      <p:sp>
        <p:nvSpPr>
          <p:cNvPr id="35" name="stat5-1-label"/>
          <p:cNvSpPr txBox="1"/>
          <p:nvPr/>
        </p:nvSpPr>
        <p:spPr>
          <a:xfrm>
            <a:off x="9501988" y="270967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项单元测试全部通过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服务端 30、手机 66、Gazebo 9</a:t>
            </a:r>
            <a:endParaRPr lang="en-US" sz="1300" dirty="0"/>
          </a:p>
        </p:txBody>
      </p:sp>
      <p:sp>
        <p:nvSpPr>
          <p:cNvPr id="36" name="stat5-2"/>
          <p:cNvSpPr/>
          <p:nvPr/>
        </p:nvSpPr>
        <p:spPr>
          <a:xfrm>
            <a:off x="6492240" y="400050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37" name="stat5-2-num"/>
          <p:cNvSpPr txBox="1"/>
          <p:nvPr/>
        </p:nvSpPr>
        <p:spPr>
          <a:xfrm>
            <a:off x="6812280" y="432054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0.2 s</a:t>
            </a:r>
            <a:endParaRPr lang="en-US" sz="4400" dirty="0"/>
          </a:p>
        </p:txBody>
      </p:sp>
      <p:sp>
        <p:nvSpPr>
          <p:cNvPr id="38" name="stat5-2-label"/>
          <p:cNvSpPr txBox="1"/>
          <p:nvPr/>
        </p:nvSpPr>
        <p:spPr>
          <a:xfrm>
            <a:off x="6812280" y="506425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断开整个车队后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全部由数字世界接管</a:t>
            </a:r>
            <a:endParaRPr lang="en-US" sz="1300" dirty="0"/>
          </a:p>
        </p:txBody>
      </p:sp>
      <p:sp>
        <p:nvSpPr>
          <p:cNvPr id="39" name="stat5-3"/>
          <p:cNvSpPr/>
          <p:nvPr/>
        </p:nvSpPr>
        <p:spPr>
          <a:xfrm>
            <a:off x="9181948" y="4000500"/>
            <a:ext cx="2461108" cy="2125980"/>
          </a:xfrm>
          <a:prstGeom prst="roundRect">
            <a:avLst>
              <a:gd name="adj" fmla="val 4301"/>
            </a:avLst>
          </a:prstGeom>
          <a:solidFill>
            <a:schemeClr val="bg2"/>
          </a:solidFill>
          <a:ln/>
        </p:spPr>
      </p:sp>
      <p:sp>
        <p:nvSpPr>
          <p:cNvPr id="40" name="stat5-3-num"/>
          <p:cNvSpPr txBox="1"/>
          <p:nvPr/>
        </p:nvSpPr>
        <p:spPr>
          <a:xfrm>
            <a:off x="9501988" y="4320540"/>
            <a:ext cx="1912468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accent2"/>
                </a:solidFill>
              </a:rPr>
              <a:t>0 次</a:t>
            </a:r>
            <a:endParaRPr lang="en-US" sz="4400" dirty="0"/>
          </a:p>
        </p:txBody>
      </p:sp>
      <p:sp>
        <p:nvSpPr>
          <p:cNvPr id="41" name="stat5-3-label"/>
          <p:cNvSpPr txBox="1"/>
          <p:nvPr/>
        </p:nvSpPr>
        <p:spPr>
          <a:xfrm>
            <a:off x="9501988" y="5064252"/>
            <a:ext cx="191246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考核中的人工操作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（场景脚本自动触发）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1188720"/>
            <a:ext cx="5486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感谢聆听</a:t>
            </a:r>
            <a:endParaRPr lang="en-US" sz="16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1691640"/>
            <a:ext cx="5577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谢谢！</a:t>
            </a:r>
            <a:endParaRPr lang="en-US" sz="3600" dirty="0"/>
          </a:p>
          <a:p>
            <a:pPr algn="l" indent="0" marL="0">
              <a:lnSpc>
                <a:spcPct val="105000"/>
              </a:lnSpc>
              <a:buNone/>
            </a:pPr>
            <a:r>
              <a:rPr lang="en-US" sz="3600" b="1" dirty="0">
                <a:solidFill>
                  <a:schemeClr val="bg1"/>
                </a:solidFill>
              </a:rPr>
              <a:t>请老师指正</a:t>
            </a:r>
            <a:endParaRPr lang="en-US" sz="3600" dirty="0"/>
          </a:p>
        </p:txBody>
      </p:sp>
      <p:sp>
        <p:nvSpPr>
          <p:cNvPr id="4" name="Text 0"/>
          <p:cNvSpPr/>
          <p:nvPr>
            <p:ph idx="102" type="body" hasCustomPrompt="1"/>
          </p:nvPr>
        </p:nvSpPr>
        <p:spPr>
          <a:xfrm>
            <a:off x="548640" y="3520440"/>
            <a:ext cx="5303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chemeClr val="bg2"/>
                </a:solidFill>
              </a:rPr>
              <a:t>接下来是现场演示：一键启动，全程无人操作</a:t>
            </a:r>
            <a:endParaRPr lang="en-US" sz="15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548640" y="4846320"/>
            <a:ext cx="5486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源码、技术报告、测试与评估数据：</a:t>
            </a:r>
            <a:endParaRPr lang="en-US" sz="130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chemeClr val="accent5"/>
                </a:solidFill>
              </a:rPr>
              <a:t>github.com/fuzeliang1/ZongC</a:t>
            </a:r>
            <a:endParaRPr lang="en-US" sz="1300" dirty="0"/>
          </a:p>
        </p:txBody>
      </p:sp>
      <p:pic>
        <p:nvPicPr>
          <p:cNvPr id="6" name="closing-gazebo" descr="Gazebo 跟车视角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309360" y="1591056"/>
            <a:ext cx="5882335" cy="36764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1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课程要求完成情况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必做 7 项、挑战 5 项：除手机 App 待真机实测外，全部完成并经测试验证</a:t>
            </a:r>
            <a:endParaRPr lang="en-US" sz="16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4023360"/>
                <a:gridCol w="5516575"/>
              </a:tblGrid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档次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要求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bg1"/>
                          </a:solidFill>
                        </a:rPr>
                        <a:t>完成情况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数字世界：≥ 5 辆数字车、随机运输任务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：默认 8 辆可配置，泊松到达订单，完整接送流程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基于最优化的路径规划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：A* 最短路，匈牙利算法全局最优派单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人机交互与动态显示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：2D 实时地图、指标面板、配置与控制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不与静态 / 动态障碍碰撞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：移动授权交通管控，长时间高负载零碰撞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Matlab 模拟车 ≥ 5 辆并与数字车同步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：CI 中 MATLAB R2024b 运行，5 车零碰撞、零越权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手机 App：读传感器、无线同步、估计位姿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1"/>
                          </a:solidFill>
                        </a:rPr>
                        <a:t>基本完成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：核心算法仿真验证通过，APK 已编译，待真机实测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必做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整体集成、全自主运行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：一键启动，场景脚本自动触发，断线自动接管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3D 渲染可视化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：自写 WebGL 渲染器，四种视角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环境感知与辅助建图、端云互动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：模拟激光雷达 + 占据栅格；手机拍照、服务端识别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服务端图像处理加速模块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：按行并行，大图加速 1.26~1.41 倍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挑战（进阶）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Gazebo 中 ≥ 5 辆车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：5 辆差速小车接入，无界面模式零碰撞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挑战（自选）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调度优化与定量评估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</a:rPr>
                        <a:t>已完成</a:t>
                      </a:r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：空车调度，配对对比实验</a:t>
                      </a:r>
                      <a:endParaRPr lang="en-US" sz="13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2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交通管控规则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思路来自铁路的移动闭塞（CBTC）：授权格互不相交，所以任意两车不可能重叠</a:t>
            </a:r>
            <a:endParaRPr lang="en-US" sz="1600" dirty="0"/>
          </a:p>
        </p:txBody>
      </p:sp>
      <p:sp>
        <p:nvSpPr>
          <p:cNvPr id="4" name="rule-0"/>
          <p:cNvSpPr/>
          <p:nvPr/>
        </p:nvSpPr>
        <p:spPr>
          <a:xfrm>
            <a:off x="548640" y="16459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5" name="rule-0-circle"/>
          <p:cNvSpPr/>
          <p:nvPr/>
        </p:nvSpPr>
        <p:spPr>
          <a:xfrm>
            <a:off x="777240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rule-0-num"/>
          <p:cNvSpPr txBox="1"/>
          <p:nvPr/>
        </p:nvSpPr>
        <p:spPr>
          <a:xfrm>
            <a:off x="777240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rule-0-title"/>
          <p:cNvSpPr txBox="1"/>
          <p:nvPr/>
        </p:nvSpPr>
        <p:spPr>
          <a:xfrm>
            <a:off x="1371600" y="18470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一格一车</a:t>
            </a:r>
            <a:endParaRPr lang="en-US" sz="1600" dirty="0"/>
          </a:p>
        </p:txBody>
      </p:sp>
      <p:sp>
        <p:nvSpPr>
          <p:cNvPr id="8" name="rule-0-text"/>
          <p:cNvSpPr txBox="1"/>
          <p:nvPr/>
        </p:nvSpPr>
        <p:spPr>
          <a:xfrm>
            <a:off x="777240" y="24505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每个格子同一时刻只属于一辆车：车身覆盖的格子和已授权的前方格子</a:t>
            </a:r>
            <a:endParaRPr lang="en-US" sz="1300" dirty="0"/>
          </a:p>
        </p:txBody>
      </p:sp>
      <p:sp>
        <p:nvSpPr>
          <p:cNvPr id="9" name="rule-1"/>
          <p:cNvSpPr/>
          <p:nvPr/>
        </p:nvSpPr>
        <p:spPr>
          <a:xfrm>
            <a:off x="4338218" y="16459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0" name="rule-1-circle"/>
          <p:cNvSpPr/>
          <p:nvPr/>
        </p:nvSpPr>
        <p:spPr>
          <a:xfrm>
            <a:off x="4566818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rule-1-num"/>
          <p:cNvSpPr txBox="1"/>
          <p:nvPr/>
        </p:nvSpPr>
        <p:spPr>
          <a:xfrm>
            <a:off x="4566818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2" name="rule-1-title"/>
          <p:cNvSpPr txBox="1"/>
          <p:nvPr/>
        </p:nvSpPr>
        <p:spPr>
          <a:xfrm>
            <a:off x="5161178" y="18470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只驶入已授权的格子</a:t>
            </a:r>
            <a:endParaRPr lang="en-US" sz="1600" dirty="0"/>
          </a:p>
        </p:txBody>
      </p:sp>
      <p:sp>
        <p:nvSpPr>
          <p:cNvPr id="13" name="rule-1-text"/>
          <p:cNvSpPr txBox="1"/>
          <p:nvPr/>
        </p:nvSpPr>
        <p:spPr>
          <a:xfrm>
            <a:off x="4566818" y="24505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在授权终点前留出“车身半径 + 余量”停车，内部车和外部设备都遵守</a:t>
            </a:r>
            <a:endParaRPr lang="en-US" sz="1300" dirty="0"/>
          </a:p>
        </p:txBody>
      </p:sp>
      <p:sp>
        <p:nvSpPr>
          <p:cNvPr id="14" name="rule-2"/>
          <p:cNvSpPr/>
          <p:nvPr/>
        </p:nvSpPr>
        <p:spPr>
          <a:xfrm>
            <a:off x="8127797" y="16459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15" name="rule-2-circle"/>
          <p:cNvSpPr/>
          <p:nvPr/>
        </p:nvSpPr>
        <p:spPr>
          <a:xfrm>
            <a:off x="8356397" y="18470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rule-2-num"/>
          <p:cNvSpPr txBox="1"/>
          <p:nvPr/>
        </p:nvSpPr>
        <p:spPr>
          <a:xfrm>
            <a:off x="8356397" y="18470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7" name="rule-2-title"/>
          <p:cNvSpPr txBox="1"/>
          <p:nvPr/>
        </p:nvSpPr>
        <p:spPr>
          <a:xfrm>
            <a:off x="8950757" y="18470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不堵路口</a:t>
            </a:r>
            <a:endParaRPr lang="en-US" sz="1600" dirty="0"/>
          </a:p>
        </p:txBody>
      </p:sp>
      <p:sp>
        <p:nvSpPr>
          <p:cNvPr id="18" name="rule-2-text"/>
          <p:cNvSpPr txBox="1"/>
          <p:nvPr/>
        </p:nvSpPr>
        <p:spPr>
          <a:xfrm>
            <a:off x="8356397" y="24505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路口整段加出口格必须一次申请到，否则一格也不给</a:t>
            </a:r>
            <a:endParaRPr lang="en-US" sz="1300" dirty="0"/>
          </a:p>
        </p:txBody>
      </p:sp>
      <p:sp>
        <p:nvSpPr>
          <p:cNvPr id="19" name="rule-3"/>
          <p:cNvSpPr/>
          <p:nvPr/>
        </p:nvSpPr>
        <p:spPr>
          <a:xfrm>
            <a:off x="548640" y="34747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0" name="rule-3-circle"/>
          <p:cNvSpPr/>
          <p:nvPr/>
        </p:nvSpPr>
        <p:spPr>
          <a:xfrm>
            <a:off x="777240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rule-3-num"/>
          <p:cNvSpPr txBox="1"/>
          <p:nvPr/>
        </p:nvSpPr>
        <p:spPr>
          <a:xfrm>
            <a:off x="777240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22" name="rule-3-title"/>
          <p:cNvSpPr txBox="1"/>
          <p:nvPr/>
        </p:nvSpPr>
        <p:spPr>
          <a:xfrm>
            <a:off x="1371600" y="36758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公平</a:t>
            </a:r>
            <a:endParaRPr lang="en-US" sz="1600" dirty="0"/>
          </a:p>
        </p:txBody>
      </p:sp>
      <p:sp>
        <p:nvSpPr>
          <p:cNvPr id="23" name="rule-3-text"/>
          <p:cNvSpPr txBox="1"/>
          <p:nvPr/>
        </p:nvSpPr>
        <p:spPr>
          <a:xfrm>
            <a:off x="777240" y="42793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按受阻时间排序申请；受阻超过 3 s 的车可以先占住它需要的格子</a:t>
            </a:r>
            <a:endParaRPr lang="en-US" sz="1300" dirty="0"/>
          </a:p>
        </p:txBody>
      </p:sp>
      <p:sp>
        <p:nvSpPr>
          <p:cNvPr id="24" name="rule-4"/>
          <p:cNvSpPr/>
          <p:nvPr/>
        </p:nvSpPr>
        <p:spPr>
          <a:xfrm>
            <a:off x="4338218" y="34747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25" name="rule-4-circle"/>
          <p:cNvSpPr/>
          <p:nvPr/>
        </p:nvSpPr>
        <p:spPr>
          <a:xfrm>
            <a:off x="4566818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6" name="rule-4-num"/>
          <p:cNvSpPr txBox="1"/>
          <p:nvPr/>
        </p:nvSpPr>
        <p:spPr>
          <a:xfrm>
            <a:off x="4566818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27" name="rule-4-title"/>
          <p:cNvSpPr txBox="1"/>
          <p:nvPr/>
        </p:nvSpPr>
        <p:spPr>
          <a:xfrm>
            <a:off x="5161178" y="36758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绕行</a:t>
            </a:r>
            <a:endParaRPr lang="en-US" sz="1600" dirty="0"/>
          </a:p>
        </p:txBody>
      </p:sp>
      <p:sp>
        <p:nvSpPr>
          <p:cNvPr id="28" name="rule-4-text"/>
          <p:cNvSpPr txBox="1"/>
          <p:nvPr/>
        </p:nvSpPr>
        <p:spPr>
          <a:xfrm>
            <a:off x="4566818" y="42793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受阻超过 12 s，给挡路的格子加惩罚后重新规划</a:t>
            </a:r>
            <a:endParaRPr lang="en-US" sz="1300" dirty="0"/>
          </a:p>
        </p:txBody>
      </p:sp>
      <p:sp>
        <p:nvSpPr>
          <p:cNvPr id="29" name="rule-5"/>
          <p:cNvSpPr/>
          <p:nvPr/>
        </p:nvSpPr>
        <p:spPr>
          <a:xfrm>
            <a:off x="8127797" y="3474720"/>
            <a:ext cx="3515258" cy="160020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/>
        </p:spPr>
      </p:sp>
      <p:sp>
        <p:nvSpPr>
          <p:cNvPr id="30" name="rule-5-circle"/>
          <p:cNvSpPr/>
          <p:nvPr/>
        </p:nvSpPr>
        <p:spPr>
          <a:xfrm>
            <a:off x="8356397" y="3675888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rule-5-num"/>
          <p:cNvSpPr txBox="1"/>
          <p:nvPr/>
        </p:nvSpPr>
        <p:spPr>
          <a:xfrm>
            <a:off x="8356397" y="3675888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6</a:t>
            </a:r>
            <a:endParaRPr lang="en-US" sz="1600" dirty="0"/>
          </a:p>
        </p:txBody>
      </p:sp>
      <p:sp>
        <p:nvSpPr>
          <p:cNvPr id="32" name="rule-5-title"/>
          <p:cNvSpPr txBox="1"/>
          <p:nvPr/>
        </p:nvSpPr>
        <p:spPr>
          <a:xfrm>
            <a:off x="8950757" y="3675888"/>
            <a:ext cx="250941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障碍收回授权</a:t>
            </a:r>
            <a:endParaRPr lang="en-US" sz="1600" dirty="0"/>
          </a:p>
        </p:txBody>
      </p:sp>
      <p:sp>
        <p:nvSpPr>
          <p:cNvPr id="33" name="rule-5-text"/>
          <p:cNvSpPr txBox="1"/>
          <p:nvPr/>
        </p:nvSpPr>
        <p:spPr>
          <a:xfrm>
            <a:off x="8356397" y="4279392"/>
            <a:ext cx="305805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路障或感知发现的障碍出现在已授权的格子里时，授权立即收回到它之前</a:t>
            </a:r>
            <a:endParaRPr lang="en-US" sz="1300" dirty="0"/>
          </a:p>
        </p:txBody>
      </p:sp>
      <p:sp>
        <p:nvSpPr>
          <p:cNvPr id="34" name="safety-proof"/>
          <p:cNvSpPr/>
          <p:nvPr/>
        </p:nvSpPr>
        <p:spPr>
          <a:xfrm>
            <a:off x="548640" y="5303520"/>
            <a:ext cx="11094415" cy="822960"/>
          </a:xfrm>
          <a:prstGeom prst="roundRect">
            <a:avLst>
              <a:gd name="adj" fmla="val 11111"/>
            </a:avLst>
          </a:prstGeom>
          <a:solidFill>
            <a:schemeClr val="accent4"/>
          </a:solidFill>
          <a:ln/>
        </p:spPr>
      </p:sp>
      <p:sp>
        <p:nvSpPr>
          <p:cNvPr id="35" name="safety-proof-text"/>
          <p:cNvSpPr txBox="1"/>
          <p:nvPr/>
        </p:nvSpPr>
        <p:spPr>
          <a:xfrm>
            <a:off x="822960" y="5303520"/>
            <a:ext cx="10545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安全性论证　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车只在自己的授权格内运动，并在授权边界前留出车身半径 + 余量，所以两车车身不可能重叠；规则 3 保证路口内不会互相卡死，规则 4、5 保证受阻的车最终能通过或绕行。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3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评估与测试数据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离线仿真做配对比较（同一组种子、完全相同的订单序列），全部实验零碰撞</a:t>
            </a:r>
            <a:endParaRPr lang="en-US" sz="1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45920"/>
          <a:ext cx="1109441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4114800"/>
                <a:gridCol w="5242255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项目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设置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结果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派单策略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 车，16 单/分，30 分钟 × 3 个种子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平均等待 70.4 → 38.6 s（−45%），送达效率 +13%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空车调度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潮汐需求，8 车，30 分钟 × 8 个种子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 单/分 27.9 → 22.3 s（−20%）；5 单/分 −18%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感知建图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4 处未知障碍陆续出现、消失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平均 30.9 s 发现，零误检；停在障碍前 0.08 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安全性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16 车演示场景，60 分钟 × 6 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车车 / 撞墙 / 撞障碍 0 / 0 / 0，最小车距 0.28 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图像加速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1280×960 以上的照片，2 核机器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并行加速 1.26~1.41 倍；端到端识别约 30 ms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位姿估计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传感器模拟器，多种握持方式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计步误差 ≤ 1 步；9 m 正方形闭合误差 0.6 m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单元测试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服务端 / 手机核心 / Gazebo 桥接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30 / 66 / 9 项，全部通过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集成测试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5 辆车 + 手机车，断线、拍照识别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全部通过；断开车队后 0.2 s 内接管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</a:rPr>
                        <a:t>持续集成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Linux / Windows / Android / MATLAB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</a:rPr>
                        <a:t>每次推送自动运行，main 上四组任务全部通过</a:t>
                      </a:r>
                      <a:endParaRPr lang="en-US" sz="1400" dirty="0"/>
                    </a:p>
                  </a:txBody>
                  <a:tcPr marL="109728" marR="109728" marT="54864" marB="54864"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accent1"/>
                </a:solidFill>
              </a:rPr>
              <a:t>附录 4</a:t>
            </a:r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</a:rPr>
              <a:t>　小组分工与进度</a:t>
            </a:r>
            <a:endParaRPr lang="en-US" sz="3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987552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2"/>
                </a:solidFill>
              </a:rPr>
              <a:t>4 人分工明确；第 4 周打通“服务端 + Matlab + 手机”骨架，之后每周在能运行的系统上迭代</a:t>
            </a:r>
            <a:endParaRPr lang="en-US" sz="1600" dirty="0"/>
          </a:p>
        </p:txBody>
      </p:sp>
      <p:sp>
        <p:nvSpPr>
          <p:cNvPr id="4" name="member-0"/>
          <p:cNvSpPr/>
          <p:nvPr/>
        </p:nvSpPr>
        <p:spPr>
          <a:xfrm>
            <a:off x="548640" y="1645920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5" name="member-0-name"/>
          <p:cNvSpPr txBox="1"/>
          <p:nvPr/>
        </p:nvSpPr>
        <p:spPr>
          <a:xfrm>
            <a:off x="777240" y="1755648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阮飞翔（组长）</a:t>
            </a:r>
            <a:endParaRPr lang="en-US" sz="1600" dirty="0"/>
          </a:p>
        </p:txBody>
      </p:sp>
      <p:sp>
        <p:nvSpPr>
          <p:cNvPr id="6" name="member-0-role-pill"/>
          <p:cNvSpPr/>
          <p:nvPr/>
        </p:nvSpPr>
        <p:spPr>
          <a:xfrm>
            <a:off x="3886200" y="178308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7" name="member-0-role"/>
          <p:cNvSpPr txBox="1"/>
          <p:nvPr/>
        </p:nvSpPr>
        <p:spPr>
          <a:xfrm>
            <a:off x="3886200" y="17830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架构与调度</a:t>
            </a:r>
            <a:endParaRPr lang="en-US" sz="1200" dirty="0"/>
          </a:p>
        </p:txBody>
      </p:sp>
      <p:sp>
        <p:nvSpPr>
          <p:cNvPr id="8" name="member-0-text"/>
          <p:cNvSpPr txBox="1"/>
          <p:nvPr/>
        </p:nvSpPr>
        <p:spPr>
          <a:xfrm>
            <a:off x="777240" y="2148840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总体架构、接口协议、派单与空车调度、联调；立项与需求文档、报告统稿</a:t>
            </a:r>
            <a:endParaRPr lang="en-US" sz="1300" dirty="0"/>
          </a:p>
        </p:txBody>
      </p:sp>
      <p:sp>
        <p:nvSpPr>
          <p:cNvPr id="9" name="member-1"/>
          <p:cNvSpPr/>
          <p:nvPr/>
        </p:nvSpPr>
        <p:spPr>
          <a:xfrm>
            <a:off x="548640" y="2804922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10" name="member-1-name"/>
          <p:cNvSpPr txBox="1"/>
          <p:nvPr/>
        </p:nvSpPr>
        <p:spPr>
          <a:xfrm>
            <a:off x="777240" y="291465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樊宇泽</a:t>
            </a:r>
            <a:endParaRPr lang="en-US" sz="1600" dirty="0"/>
          </a:p>
        </p:txBody>
      </p:sp>
      <p:sp>
        <p:nvSpPr>
          <p:cNvPr id="11" name="member-1-role-pill"/>
          <p:cNvSpPr/>
          <p:nvPr/>
        </p:nvSpPr>
        <p:spPr>
          <a:xfrm>
            <a:off x="3886200" y="2942082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2" name="member-1-role"/>
          <p:cNvSpPr txBox="1"/>
          <p:nvPr/>
        </p:nvSpPr>
        <p:spPr>
          <a:xfrm>
            <a:off x="3886200" y="2942082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服务端</a:t>
            </a:r>
            <a:endParaRPr lang="en-US" sz="1200" dirty="0"/>
          </a:p>
        </p:txBody>
      </p:sp>
      <p:sp>
        <p:nvSpPr>
          <p:cNvPr id="13" name="member-1-text"/>
          <p:cNvSpPr txBox="1"/>
          <p:nvPr/>
        </p:nvSpPr>
        <p:spPr>
          <a:xfrm>
            <a:off x="777240" y="3307842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数字世界与交通管控、设备接入、感知建图、图像处理加速；设计文档、测试报告</a:t>
            </a:r>
            <a:endParaRPr lang="en-US" sz="1300" dirty="0"/>
          </a:p>
        </p:txBody>
      </p:sp>
      <p:sp>
        <p:nvSpPr>
          <p:cNvPr id="14" name="member-2"/>
          <p:cNvSpPr/>
          <p:nvPr/>
        </p:nvSpPr>
        <p:spPr>
          <a:xfrm>
            <a:off x="548640" y="3963924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15" name="member-2-name"/>
          <p:cNvSpPr txBox="1"/>
          <p:nvPr/>
        </p:nvSpPr>
        <p:spPr>
          <a:xfrm>
            <a:off x="777240" y="4073652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李昊博</a:t>
            </a:r>
            <a:endParaRPr lang="en-US" sz="1600" dirty="0"/>
          </a:p>
        </p:txBody>
      </p:sp>
      <p:sp>
        <p:nvSpPr>
          <p:cNvPr id="16" name="member-2-role-pill"/>
          <p:cNvSpPr/>
          <p:nvPr/>
        </p:nvSpPr>
        <p:spPr>
          <a:xfrm>
            <a:off x="3886200" y="4101084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17" name="member-2-role"/>
          <p:cNvSpPr txBox="1"/>
          <p:nvPr/>
        </p:nvSpPr>
        <p:spPr>
          <a:xfrm>
            <a:off x="3886200" y="4101084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控制与可视化</a:t>
            </a:r>
            <a:endParaRPr lang="en-US" sz="1200" dirty="0"/>
          </a:p>
        </p:txBody>
      </p:sp>
      <p:sp>
        <p:nvSpPr>
          <p:cNvPr id="18" name="member-2-text"/>
          <p:cNvSpPr txBox="1"/>
          <p:nvPr/>
        </p:nvSpPr>
        <p:spPr>
          <a:xfrm>
            <a:off x="777240" y="4466844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Matlab 模拟车、2D 界面与 3D 可视化；部署手册、答辩 PPT、演示视频</a:t>
            </a:r>
            <a:endParaRPr lang="en-US" sz="1300" dirty="0"/>
          </a:p>
        </p:txBody>
      </p:sp>
      <p:sp>
        <p:nvSpPr>
          <p:cNvPr id="19" name="member-3"/>
          <p:cNvSpPr/>
          <p:nvPr/>
        </p:nvSpPr>
        <p:spPr>
          <a:xfrm>
            <a:off x="548640" y="5122926"/>
            <a:ext cx="5029200" cy="1003554"/>
          </a:xfrm>
          <a:prstGeom prst="roundRect">
            <a:avLst>
              <a:gd name="adj" fmla="val 9112"/>
            </a:avLst>
          </a:prstGeom>
          <a:solidFill>
            <a:schemeClr val="bg2"/>
          </a:solidFill>
          <a:ln/>
        </p:spPr>
      </p:sp>
      <p:sp>
        <p:nvSpPr>
          <p:cNvPr id="20" name="member-3-name"/>
          <p:cNvSpPr txBox="1"/>
          <p:nvPr/>
        </p:nvSpPr>
        <p:spPr>
          <a:xfrm>
            <a:off x="777240" y="5232654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付泽亮</a:t>
            </a:r>
            <a:endParaRPr lang="en-US" sz="1600" dirty="0"/>
          </a:p>
        </p:txBody>
      </p:sp>
      <p:sp>
        <p:nvSpPr>
          <p:cNvPr id="21" name="member-3-role-pill"/>
          <p:cNvSpPr/>
          <p:nvPr/>
        </p:nvSpPr>
        <p:spPr>
          <a:xfrm>
            <a:off x="3886200" y="5260086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</p:sp>
      <p:sp>
        <p:nvSpPr>
          <p:cNvPr id="22" name="member-3-role"/>
          <p:cNvSpPr txBox="1"/>
          <p:nvPr/>
        </p:nvSpPr>
        <p:spPr>
          <a:xfrm>
            <a:off x="3886200" y="5260086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bg1"/>
                </a:solidFill>
              </a:rPr>
              <a:t>移动端与进阶</a:t>
            </a:r>
            <a:endParaRPr lang="en-US" sz="1200" dirty="0"/>
          </a:p>
        </p:txBody>
      </p:sp>
      <p:sp>
        <p:nvSpPr>
          <p:cNvPr id="23" name="member-3-text"/>
          <p:cNvSpPr txBox="1"/>
          <p:nvPr/>
        </p:nvSpPr>
        <p:spPr>
          <a:xfrm>
            <a:off x="777240" y="5625846"/>
            <a:ext cx="4572000" cy="4366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2"/>
                </a:solidFill>
              </a:rPr>
              <a:t>安卓 App 与位姿估计、Gazebo 接入；效果评估报告</a:t>
            </a:r>
            <a:endParaRPr lang="en-US" sz="1300" dirty="0"/>
          </a:p>
        </p:txBody>
      </p:sp>
      <p:sp>
        <p:nvSpPr>
          <p:cNvPr id="24" name="gantt-panel"/>
          <p:cNvSpPr/>
          <p:nvPr/>
        </p:nvSpPr>
        <p:spPr>
          <a:xfrm>
            <a:off x="5897880" y="1645920"/>
            <a:ext cx="5745175" cy="4480560"/>
          </a:xfrm>
          <a:prstGeom prst="roundRect">
            <a:avLst>
              <a:gd name="adj" fmla="val 2041"/>
            </a:avLst>
          </a:prstGeom>
          <a:solidFill>
            <a:schemeClr val="bg2"/>
          </a:solidFill>
          <a:ln/>
        </p:spPr>
      </p:sp>
      <p:sp>
        <p:nvSpPr>
          <p:cNvPr id="25" name="gantt-week-1"/>
          <p:cNvSpPr txBox="1"/>
          <p:nvPr/>
        </p:nvSpPr>
        <p:spPr>
          <a:xfrm>
            <a:off x="7680960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</a:t>
            </a:r>
            <a:endParaRPr lang="en-US" sz="1100" dirty="0"/>
          </a:p>
        </p:txBody>
      </p:sp>
      <p:sp>
        <p:nvSpPr>
          <p:cNvPr id="26" name="gantt-week-2"/>
          <p:cNvSpPr txBox="1"/>
          <p:nvPr/>
        </p:nvSpPr>
        <p:spPr>
          <a:xfrm>
            <a:off x="7917161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2</a:t>
            </a:r>
            <a:endParaRPr lang="en-US" sz="1100" dirty="0"/>
          </a:p>
        </p:txBody>
      </p:sp>
      <p:sp>
        <p:nvSpPr>
          <p:cNvPr id="27" name="gantt-week-3"/>
          <p:cNvSpPr txBox="1"/>
          <p:nvPr/>
        </p:nvSpPr>
        <p:spPr>
          <a:xfrm>
            <a:off x="8153362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3</a:t>
            </a:r>
            <a:endParaRPr lang="en-US" sz="1100" dirty="0"/>
          </a:p>
        </p:txBody>
      </p:sp>
      <p:sp>
        <p:nvSpPr>
          <p:cNvPr id="28" name="gantt-week-4"/>
          <p:cNvSpPr txBox="1"/>
          <p:nvPr/>
        </p:nvSpPr>
        <p:spPr>
          <a:xfrm>
            <a:off x="8389563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4</a:t>
            </a:r>
            <a:endParaRPr lang="en-US" sz="1100" dirty="0"/>
          </a:p>
        </p:txBody>
      </p:sp>
      <p:sp>
        <p:nvSpPr>
          <p:cNvPr id="29" name="gantt-week-5"/>
          <p:cNvSpPr txBox="1"/>
          <p:nvPr/>
        </p:nvSpPr>
        <p:spPr>
          <a:xfrm>
            <a:off x="8625764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5</a:t>
            </a:r>
            <a:endParaRPr lang="en-US" sz="1100" dirty="0"/>
          </a:p>
        </p:txBody>
      </p:sp>
      <p:sp>
        <p:nvSpPr>
          <p:cNvPr id="30" name="gantt-week-6"/>
          <p:cNvSpPr txBox="1"/>
          <p:nvPr/>
        </p:nvSpPr>
        <p:spPr>
          <a:xfrm>
            <a:off x="8861965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6</a:t>
            </a:r>
            <a:endParaRPr lang="en-US" sz="1100" dirty="0"/>
          </a:p>
        </p:txBody>
      </p:sp>
      <p:sp>
        <p:nvSpPr>
          <p:cNvPr id="31" name="gantt-week-7"/>
          <p:cNvSpPr txBox="1"/>
          <p:nvPr/>
        </p:nvSpPr>
        <p:spPr>
          <a:xfrm>
            <a:off x="9098166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7</a:t>
            </a:r>
            <a:endParaRPr lang="en-US" sz="1100" dirty="0"/>
          </a:p>
        </p:txBody>
      </p:sp>
      <p:sp>
        <p:nvSpPr>
          <p:cNvPr id="32" name="gantt-week-8"/>
          <p:cNvSpPr txBox="1"/>
          <p:nvPr/>
        </p:nvSpPr>
        <p:spPr>
          <a:xfrm>
            <a:off x="9334367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8</a:t>
            </a:r>
            <a:endParaRPr lang="en-US" sz="1100" dirty="0"/>
          </a:p>
        </p:txBody>
      </p:sp>
      <p:sp>
        <p:nvSpPr>
          <p:cNvPr id="33" name="gantt-week-9"/>
          <p:cNvSpPr txBox="1"/>
          <p:nvPr/>
        </p:nvSpPr>
        <p:spPr>
          <a:xfrm>
            <a:off x="9570568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9</a:t>
            </a:r>
            <a:endParaRPr lang="en-US" sz="1100" dirty="0"/>
          </a:p>
        </p:txBody>
      </p:sp>
      <p:sp>
        <p:nvSpPr>
          <p:cNvPr id="34" name="gantt-week-10"/>
          <p:cNvSpPr txBox="1"/>
          <p:nvPr/>
        </p:nvSpPr>
        <p:spPr>
          <a:xfrm>
            <a:off x="9806769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10</a:t>
            </a:r>
            <a:endParaRPr lang="en-US" sz="1100" dirty="0"/>
          </a:p>
        </p:txBody>
      </p:sp>
      <p:sp>
        <p:nvSpPr>
          <p:cNvPr id="35" name="gantt-week-11"/>
          <p:cNvSpPr txBox="1"/>
          <p:nvPr/>
        </p:nvSpPr>
        <p:spPr>
          <a:xfrm>
            <a:off x="10042970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11</a:t>
            </a:r>
            <a:endParaRPr lang="en-US" sz="1100" dirty="0"/>
          </a:p>
        </p:txBody>
      </p:sp>
      <p:sp>
        <p:nvSpPr>
          <p:cNvPr id="36" name="gantt-week-12"/>
          <p:cNvSpPr txBox="1"/>
          <p:nvPr/>
        </p:nvSpPr>
        <p:spPr>
          <a:xfrm>
            <a:off x="10279170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12</a:t>
            </a:r>
            <a:endParaRPr lang="en-US" sz="1100" dirty="0"/>
          </a:p>
        </p:txBody>
      </p:sp>
      <p:sp>
        <p:nvSpPr>
          <p:cNvPr id="37" name="gantt-week-13"/>
          <p:cNvSpPr txBox="1"/>
          <p:nvPr/>
        </p:nvSpPr>
        <p:spPr>
          <a:xfrm>
            <a:off x="10515371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13</a:t>
            </a:r>
            <a:endParaRPr lang="en-US" sz="1100" dirty="0"/>
          </a:p>
        </p:txBody>
      </p:sp>
      <p:sp>
        <p:nvSpPr>
          <p:cNvPr id="38" name="gantt-week-14"/>
          <p:cNvSpPr txBox="1"/>
          <p:nvPr/>
        </p:nvSpPr>
        <p:spPr>
          <a:xfrm>
            <a:off x="10751572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14</a:t>
            </a:r>
            <a:endParaRPr lang="en-US" sz="1100" dirty="0"/>
          </a:p>
        </p:txBody>
      </p:sp>
      <p:sp>
        <p:nvSpPr>
          <p:cNvPr id="39" name="gantt-week-15"/>
          <p:cNvSpPr txBox="1"/>
          <p:nvPr/>
        </p:nvSpPr>
        <p:spPr>
          <a:xfrm>
            <a:off x="10987773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15</a:t>
            </a:r>
            <a:endParaRPr lang="en-US" sz="1100" dirty="0"/>
          </a:p>
        </p:txBody>
      </p:sp>
      <p:sp>
        <p:nvSpPr>
          <p:cNvPr id="40" name="gantt-week-16"/>
          <p:cNvSpPr txBox="1"/>
          <p:nvPr/>
        </p:nvSpPr>
        <p:spPr>
          <a:xfrm>
            <a:off x="11223974" y="1783080"/>
            <a:ext cx="23620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16</a:t>
            </a:r>
            <a:endParaRPr lang="en-US" sz="1100" dirty="0"/>
          </a:p>
        </p:txBody>
      </p:sp>
      <p:sp>
        <p:nvSpPr>
          <p:cNvPr id="41" name="gantt-week-label"/>
          <p:cNvSpPr txBox="1"/>
          <p:nvPr/>
        </p:nvSpPr>
        <p:spPr>
          <a:xfrm>
            <a:off x="6080760" y="1783080"/>
            <a:ext cx="1600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周次</a:t>
            </a:r>
            <a:endParaRPr lang="en-US" sz="1100" dirty="0"/>
          </a:p>
        </p:txBody>
      </p:sp>
      <p:sp>
        <p:nvSpPr>
          <p:cNvPr id="42" name="gantt-phase-0"/>
          <p:cNvSpPr txBox="1"/>
          <p:nvPr/>
        </p:nvSpPr>
        <p:spPr>
          <a:xfrm>
            <a:off x="6080760" y="219456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立项与设计</a:t>
            </a:r>
            <a:endParaRPr lang="en-US" sz="1300" dirty="0"/>
          </a:p>
        </p:txBody>
      </p:sp>
      <p:sp>
        <p:nvSpPr>
          <p:cNvPr id="43" name="gantt-bar-0"/>
          <p:cNvSpPr/>
          <p:nvPr/>
        </p:nvSpPr>
        <p:spPr>
          <a:xfrm>
            <a:off x="7708392" y="2313432"/>
            <a:ext cx="653739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44" name="gantt-phase-1"/>
          <p:cNvSpPr txBox="1"/>
          <p:nvPr/>
        </p:nvSpPr>
        <p:spPr>
          <a:xfrm>
            <a:off x="6080760" y="2670048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打通骨架</a:t>
            </a:r>
            <a:endParaRPr lang="en-US" sz="1300" dirty="0"/>
          </a:p>
        </p:txBody>
      </p:sp>
      <p:sp>
        <p:nvSpPr>
          <p:cNvPr id="45" name="gantt-bar-1"/>
          <p:cNvSpPr/>
          <p:nvPr/>
        </p:nvSpPr>
        <p:spPr>
          <a:xfrm>
            <a:off x="8180794" y="2788920"/>
            <a:ext cx="417538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46" name="gantt-phase-2"/>
          <p:cNvSpPr txBox="1"/>
          <p:nvPr/>
        </p:nvSpPr>
        <p:spPr>
          <a:xfrm>
            <a:off x="6080760" y="3145536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完成必做</a:t>
            </a:r>
            <a:endParaRPr lang="en-US" sz="1300" dirty="0"/>
          </a:p>
        </p:txBody>
      </p:sp>
      <p:sp>
        <p:nvSpPr>
          <p:cNvPr id="47" name="gantt-bar-2"/>
          <p:cNvSpPr/>
          <p:nvPr/>
        </p:nvSpPr>
        <p:spPr>
          <a:xfrm>
            <a:off x="8653196" y="3264408"/>
            <a:ext cx="889940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48" name="gantt-phase-3"/>
          <p:cNvSpPr txBox="1"/>
          <p:nvPr/>
        </p:nvSpPr>
        <p:spPr>
          <a:xfrm>
            <a:off x="6080760" y="3621024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冲优（挑战项）</a:t>
            </a:r>
            <a:endParaRPr lang="en-US" sz="1300" dirty="0"/>
          </a:p>
        </p:txBody>
      </p:sp>
      <p:sp>
        <p:nvSpPr>
          <p:cNvPr id="49" name="gantt-bar-3"/>
          <p:cNvSpPr/>
          <p:nvPr/>
        </p:nvSpPr>
        <p:spPr>
          <a:xfrm>
            <a:off x="9598000" y="3739896"/>
            <a:ext cx="889940" cy="237744"/>
          </a:xfrm>
          <a:prstGeom prst="roundRect">
            <a:avLst>
              <a:gd name="adj" fmla="val 30769"/>
            </a:avLst>
          </a:prstGeom>
          <a:solidFill>
            <a:schemeClr val="accent1"/>
          </a:solidFill>
          <a:ln/>
        </p:spPr>
      </p:sp>
      <p:sp>
        <p:nvSpPr>
          <p:cNvPr id="50" name="gantt-phase-4"/>
          <p:cNvSpPr txBox="1"/>
          <p:nvPr/>
        </p:nvSpPr>
        <p:spPr>
          <a:xfrm>
            <a:off x="6080760" y="4096512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加固与评估</a:t>
            </a:r>
            <a:endParaRPr lang="en-US" sz="1300" dirty="0"/>
          </a:p>
        </p:txBody>
      </p:sp>
      <p:sp>
        <p:nvSpPr>
          <p:cNvPr id="51" name="gantt-bar-4"/>
          <p:cNvSpPr/>
          <p:nvPr/>
        </p:nvSpPr>
        <p:spPr>
          <a:xfrm>
            <a:off x="10542803" y="4215384"/>
            <a:ext cx="417538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52" name="gantt-phase-5"/>
          <p:cNvSpPr txBox="1"/>
          <p:nvPr/>
        </p:nvSpPr>
        <p:spPr>
          <a:xfrm>
            <a:off x="6080760" y="4572000"/>
            <a:ext cx="16002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收尾与答辩</a:t>
            </a:r>
            <a:endParaRPr lang="en-US" sz="1300" dirty="0"/>
          </a:p>
        </p:txBody>
      </p:sp>
      <p:sp>
        <p:nvSpPr>
          <p:cNvPr id="53" name="gantt-bar-5"/>
          <p:cNvSpPr/>
          <p:nvPr/>
        </p:nvSpPr>
        <p:spPr>
          <a:xfrm>
            <a:off x="11015205" y="4690872"/>
            <a:ext cx="417538" cy="237744"/>
          </a:xfrm>
          <a:prstGeom prst="roundRect">
            <a:avLst>
              <a:gd name="adj" fmla="val 30769"/>
            </a:avLst>
          </a:prstGeom>
          <a:solidFill>
            <a:schemeClr val="accent3"/>
          </a:solidFill>
          <a:ln/>
        </p:spPr>
      </p:sp>
      <p:sp>
        <p:nvSpPr>
          <p:cNvPr id="54" name="gantt-milestone-label"/>
          <p:cNvSpPr txBox="1"/>
          <p:nvPr/>
        </p:nvSpPr>
        <p:spPr>
          <a:xfrm>
            <a:off x="6080760" y="5157216"/>
            <a:ext cx="1600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里程碑</a:t>
            </a:r>
            <a:endParaRPr lang="en-US" sz="1300" dirty="0"/>
          </a:p>
        </p:txBody>
      </p:sp>
      <p:sp>
        <p:nvSpPr>
          <p:cNvPr id="55" name="gantt-milestone-0"/>
          <p:cNvSpPr/>
          <p:nvPr/>
        </p:nvSpPr>
        <p:spPr>
          <a:xfrm>
            <a:off x="8361359" y="5193792"/>
            <a:ext cx="292608" cy="292608"/>
          </a:xfrm>
          <a:prstGeom prst="diamond">
            <a:avLst/>
          </a:prstGeom>
          <a:solidFill>
            <a:schemeClr val="accent2"/>
          </a:solidFill>
          <a:ln/>
        </p:spPr>
      </p:sp>
      <p:sp>
        <p:nvSpPr>
          <p:cNvPr id="56" name="gantt-milestone-0-text"/>
          <p:cNvSpPr txBox="1"/>
          <p:nvPr/>
        </p:nvSpPr>
        <p:spPr>
          <a:xfrm>
            <a:off x="7959023" y="55229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第 4 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全系统联调</a:t>
            </a:r>
            <a:endParaRPr lang="en-US" sz="1200" dirty="0"/>
          </a:p>
        </p:txBody>
      </p:sp>
      <p:sp>
        <p:nvSpPr>
          <p:cNvPr id="57" name="gantt-milestone-1"/>
          <p:cNvSpPr/>
          <p:nvPr/>
        </p:nvSpPr>
        <p:spPr>
          <a:xfrm>
            <a:off x="9306163" y="5193792"/>
            <a:ext cx="292608" cy="292608"/>
          </a:xfrm>
          <a:prstGeom prst="diamond">
            <a:avLst/>
          </a:prstGeom>
          <a:solidFill>
            <a:schemeClr val="accent2"/>
          </a:solidFill>
          <a:ln/>
        </p:spPr>
      </p:sp>
      <p:sp>
        <p:nvSpPr>
          <p:cNvPr id="58" name="gantt-milestone-1-text"/>
          <p:cNvSpPr txBox="1"/>
          <p:nvPr/>
        </p:nvSpPr>
        <p:spPr>
          <a:xfrm>
            <a:off x="8903827" y="55229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第 8 周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中期检查</a:t>
            </a:r>
            <a:endParaRPr lang="en-US" sz="1200" dirty="0"/>
          </a:p>
        </p:txBody>
      </p:sp>
      <p:sp>
        <p:nvSpPr>
          <p:cNvPr id="59" name="gantt-milestone-2"/>
          <p:cNvSpPr/>
          <p:nvPr/>
        </p:nvSpPr>
        <p:spPr>
          <a:xfrm>
            <a:off x="11195771" y="5193792"/>
            <a:ext cx="292608" cy="292608"/>
          </a:xfrm>
          <a:prstGeom prst="diamond">
            <a:avLst/>
          </a:prstGeom>
          <a:solidFill>
            <a:schemeClr val="accent2"/>
          </a:solidFill>
          <a:ln/>
        </p:spPr>
      </p:sp>
      <p:sp>
        <p:nvSpPr>
          <p:cNvPr id="60" name="gantt-milestone-2-text"/>
          <p:cNvSpPr txBox="1"/>
          <p:nvPr/>
        </p:nvSpPr>
        <p:spPr>
          <a:xfrm>
            <a:off x="10362895" y="5522976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第 16 周</a:t>
            </a:r>
            <a:endParaRPr lang="en-US" sz="1200" dirty="0"/>
          </a:p>
          <a:p>
            <a:pPr algn="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期末答辩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382512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MiniDiDi">
  <a:themeElements>
    <a:clrScheme name="MiniDiDi">
      <a:dk1>
        <a:srgbClr val="1E2633"/>
      </a:dk1>
      <a:lt1>
        <a:srgbClr val="FFFFFF"/>
      </a:lt1>
      <a:dk2>
        <a:srgbClr val="566173"/>
      </a:dk2>
      <a:lt2>
        <a:srgbClr val="F2F4F7"/>
      </a:lt2>
      <a:accent1>
        <a:srgbClr val="F26B1D"/>
      </a:accent1>
      <a:accent2>
        <a:srgbClr val="0F9488"/>
      </a:accent2>
      <a:accent3>
        <a:srgbClr val="27406B"/>
      </a:accent3>
      <a:accent4>
        <a:srgbClr val="FDE3D0"/>
      </a:accent4>
      <a:accent5>
        <a:srgbClr val="B5BDC9"/>
      </a:accent5>
      <a:accent6>
        <a:srgbClr val="DDF1EE"/>
      </a:accent6>
      <a:hlink>
        <a:srgbClr val="27406B"/>
      </a:hlink>
      <a:folHlink>
        <a:srgbClr val="566173"/>
      </a:folHlink>
    </a:clrScheme>
    <a:fontScheme name="MiniDiDi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MiniDiDi 缩微滴滴：多智能体无人出租车系统</dc:title>
  <dc:subject>综合设计与实践 C 期末答辩</dc:subject>
  <dc:creator>MiniDiDi 小组</dc:creator>
  <cp:lastModifiedBy>MiniDiDi 小组</cp:lastModifiedBy>
  <cp:revision>1</cp:revision>
  <dcterms:created xsi:type="dcterms:W3CDTF">2026-10-26T17:25:34Z</dcterms:created>
  <dcterms:modified xsi:type="dcterms:W3CDTF">2026-10-26T17:25:34Z</dcterms:modified>
</cp:coreProperties>
</file>