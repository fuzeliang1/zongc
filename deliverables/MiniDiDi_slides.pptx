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5eeff13d-0fde-b63f-f91f-de2262843e03}">
          <p14:sldIdLst>
            <p14:sldId id="256"/>
          </p14:sldIdLst>
        </p14:section>
        <p14:section name="正文" id="{526c22b5-97cc-03db-631f-cfb5d1db3829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d27b74ab-5532-3724-4dfd-b9509768952d}">
          <p14:sldIdLst>
            <p14:sldId id="262"/>
          </p14:sldIdLst>
        </p14:section>
        <p14:section name="附录" id="{9d79c0b7-3106-d47e-096b-b4c65e7ffaa7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6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633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贪心（就近派车）</c:v>
                </c:pt>
              </c:strCache>
            </c:strRef>
          </c:tx>
          <c:spPr>
            <a:solidFill>
              <a:srgbClr val="B5BD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匈牙利（全局最优）</c:v>
                </c:pt>
              </c:strCache>
            </c:strRef>
          </c:tx>
          <c:spPr>
            <a:solidFill>
              <a:srgbClr val="F26B1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E26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5661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右边是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 2D 主界面。车前方的浅色格子就是服务端给它的行驶授权，任意两车的授权互不重叠。右上是原理：车 A 只能开到自己授权的最后一格，并在橙线处停下，B 的格子 A 永远申请不到，所以两车不会相撞；路口整段一次申请，不会堵在路口里；受阻 3 秒优先、12 秒绕行，不会死锁。右下是感知：服务端把真实世界和系统认知分开，场景脚本放出的施工围挡系统一开始并不知道，要靠每辆车的模拟激光雷达发现，证据累计够了就写入全局地图，收回经过它的授权，车辆绕行或掉头。平均 30.9 秒发现，零误检。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按课程要求，手机用来模拟一辆车：App 注册后绑定 car-6，路线由服务端规划，人只管拿着手机走路。App 用加速度计步、Weinberg 模型估步长，走路速度乘驾驶比例就是期望车速，车沿路线前进，同样受限速和刹车曲线约束、不越过授权停车点，每秒上报 10 次车的位姿。人走得快车就快，停下车就停；断线 3 秒由内部仿真接管。陀螺仪、磁力计和卫星用来估计并记录人的位姿，供精度分析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分钟，碰撞全部为零；105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备用页：课程要求逐项对照。手机 App 已在 vivo S20 真机上实测：走路驾驶、拍照识别正常，车从未越过授权停车点。Matlab 车队在 Windows 上的 MATLAB R2024b 中带图窗运行约 16 分钟，零碰撞、零越权。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备用页：交通管控的六条规则和安全性论证。碰撞监测模块独立于交通管控、按真实几何计数，作为验证，所有实验都是零碰撞。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备用页：评估和测试的关键数据，详细表格见技术报告第 6、7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备用页：分工与 16 周进度。橙色是冲优阶段，做了 3D、感知建图与图像识别、空车调度和 Gazebo。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0000"/>
              </a:lnSpc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 · 第 1 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综合设计与实践 C · 期末答辩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缩微滴滴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多智能体无人出租车系统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城市里随时有人叫车，“系统超脑”负责派车、规划路径、管控交通；Matlab 车、手机和 Gazebo 小车都是它的数字孪生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第 1 组　指导教师：许春权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组长：阮飞翔 2252753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组员：樊宇泽 2351586　李昊博 2352853　付泽亮 2353413</a:t>
            </a:r>
            <a:endParaRPr lang="en-US" sz="1300" dirty="0"/>
          </a:p>
        </p:txBody>
      </p:sp>
      <p:pic>
        <p:nvPicPr>
          <p:cNvPr id="6" name="cover-3d" descr="3D 视图截图：缩微城市与车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系统总体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一个“系统超脑”统一调度四类设备：同一套 TCP 协议，任何设备断线都由数字世界接管</a:t>
            </a:r>
            <a:endParaRPr lang="en-US" sz="1600" dirty="0"/>
          </a:p>
        </p:txBody>
      </p:sp>
      <p:sp>
        <p:nvSpPr>
          <p:cNvPr id="4" name="device-0"/>
          <p:cNvSpPr/>
          <p:nvPr/>
        </p:nvSpPr>
        <p:spPr>
          <a:xfrm>
            <a:off x="5486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device-0-circle"/>
          <p:cNvSpPr/>
          <p:nvPr/>
        </p:nvSpPr>
        <p:spPr>
          <a:xfrm>
            <a:off x="11430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879092"/>
            <a:ext cx="228600" cy="228600"/>
          </a:xfrm>
          <a:prstGeom prst="rect">
            <a:avLst/>
          </a:prstGeom>
        </p:spPr>
      </p:pic>
      <p:sp>
        <p:nvSpPr>
          <p:cNvPr id="7" name="device-0-name"/>
          <p:cNvSpPr txBox="1"/>
          <p:nvPr/>
        </p:nvSpPr>
        <p:spPr>
          <a:xfrm>
            <a:off x="5486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2D / 3D 网页</a:t>
            </a:r>
            <a:endParaRPr lang="en-US" sz="1400" dirty="0"/>
          </a:p>
        </p:txBody>
      </p:sp>
      <p:sp>
        <p:nvSpPr>
          <p:cNvPr id="8" name="device-0-proto"/>
          <p:cNvSpPr txBox="1"/>
          <p:nvPr/>
        </p:nvSpPr>
        <p:spPr>
          <a:xfrm>
            <a:off x="5486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 8080</a:t>
            </a:r>
            <a:endParaRPr lang="en-US" sz="1200" dirty="0"/>
          </a:p>
        </p:txBody>
      </p:sp>
      <p:sp>
        <p:nvSpPr>
          <p:cNvPr id="9" name="device-0-link"/>
          <p:cNvSpPr/>
          <p:nvPr/>
        </p:nvSpPr>
        <p:spPr>
          <a:xfrm>
            <a:off x="13716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0" name="device-1"/>
          <p:cNvSpPr/>
          <p:nvPr/>
        </p:nvSpPr>
        <p:spPr>
          <a:xfrm>
            <a:off x="23774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1" name="device-1-circle"/>
          <p:cNvSpPr/>
          <p:nvPr/>
        </p:nvSpPr>
        <p:spPr>
          <a:xfrm>
            <a:off x="29718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1879092"/>
            <a:ext cx="228600" cy="228600"/>
          </a:xfrm>
          <a:prstGeom prst="rect">
            <a:avLst/>
          </a:prstGeom>
        </p:spPr>
      </p:pic>
      <p:sp>
        <p:nvSpPr>
          <p:cNvPr id="13" name="device-1-name"/>
          <p:cNvSpPr txBox="1"/>
          <p:nvPr/>
        </p:nvSpPr>
        <p:spPr>
          <a:xfrm>
            <a:off x="23774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Matlab 车队 ×5</a:t>
            </a:r>
            <a:endParaRPr lang="en-US" sz="1400" dirty="0"/>
          </a:p>
        </p:txBody>
      </p:sp>
      <p:sp>
        <p:nvSpPr>
          <p:cNvPr id="14" name="device-1-proto"/>
          <p:cNvSpPr txBox="1"/>
          <p:nvPr/>
        </p:nvSpPr>
        <p:spPr>
          <a:xfrm>
            <a:off x="23774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</a:t>
            </a:r>
            <a:endParaRPr lang="en-US" sz="1200" dirty="0"/>
          </a:p>
        </p:txBody>
      </p:sp>
      <p:sp>
        <p:nvSpPr>
          <p:cNvPr id="15" name="device-1-link"/>
          <p:cNvSpPr/>
          <p:nvPr/>
        </p:nvSpPr>
        <p:spPr>
          <a:xfrm>
            <a:off x="32004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6" name="device-2"/>
          <p:cNvSpPr/>
          <p:nvPr/>
        </p:nvSpPr>
        <p:spPr>
          <a:xfrm>
            <a:off x="42062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7" name="device-2-circle"/>
          <p:cNvSpPr/>
          <p:nvPr/>
        </p:nvSpPr>
        <p:spPr>
          <a:xfrm>
            <a:off x="48006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79092"/>
            <a:ext cx="228600" cy="228600"/>
          </a:xfrm>
          <a:prstGeom prst="rect">
            <a:avLst/>
          </a:prstGeom>
        </p:spPr>
      </p:pic>
      <p:sp>
        <p:nvSpPr>
          <p:cNvPr id="19" name="device-2-name"/>
          <p:cNvSpPr txBox="1"/>
          <p:nvPr/>
        </p:nvSpPr>
        <p:spPr>
          <a:xfrm>
            <a:off x="42062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安卓手机车</a:t>
            </a:r>
            <a:endParaRPr lang="en-US" sz="1400" dirty="0"/>
          </a:p>
        </p:txBody>
      </p:sp>
      <p:sp>
        <p:nvSpPr>
          <p:cNvPr id="20" name="device-2-proto"/>
          <p:cNvSpPr txBox="1"/>
          <p:nvPr/>
        </p:nvSpPr>
        <p:spPr>
          <a:xfrm>
            <a:off x="42062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 + HTTP</a:t>
            </a:r>
            <a:endParaRPr lang="en-US" sz="1200" dirty="0"/>
          </a:p>
        </p:txBody>
      </p:sp>
      <p:sp>
        <p:nvSpPr>
          <p:cNvPr id="21" name="device-2-link"/>
          <p:cNvSpPr/>
          <p:nvPr/>
        </p:nvSpPr>
        <p:spPr>
          <a:xfrm>
            <a:off x="50292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2" name="device-3"/>
          <p:cNvSpPr/>
          <p:nvPr/>
        </p:nvSpPr>
        <p:spPr>
          <a:xfrm>
            <a:off x="60350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23" name="device-3-circle"/>
          <p:cNvSpPr/>
          <p:nvPr/>
        </p:nvSpPr>
        <p:spPr>
          <a:xfrm>
            <a:off x="66294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1879092"/>
            <a:ext cx="228600" cy="228600"/>
          </a:xfrm>
          <a:prstGeom prst="rect">
            <a:avLst/>
          </a:prstGeom>
        </p:spPr>
      </p:pic>
      <p:sp>
        <p:nvSpPr>
          <p:cNvPr id="25" name="device-3-name"/>
          <p:cNvSpPr txBox="1"/>
          <p:nvPr/>
        </p:nvSpPr>
        <p:spPr>
          <a:xfrm>
            <a:off x="60350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 小车 ×5</a:t>
            </a:r>
            <a:endParaRPr lang="en-US" sz="1400" dirty="0"/>
          </a:p>
        </p:txBody>
      </p:sp>
      <p:sp>
        <p:nvSpPr>
          <p:cNvPr id="26" name="device-3-proto"/>
          <p:cNvSpPr txBox="1"/>
          <p:nvPr/>
        </p:nvSpPr>
        <p:spPr>
          <a:xfrm>
            <a:off x="60350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ROS 2 桥接 → TCP</a:t>
            </a:r>
            <a:endParaRPr lang="en-US" sz="1200" dirty="0"/>
          </a:p>
        </p:txBody>
      </p:sp>
      <p:sp>
        <p:nvSpPr>
          <p:cNvPr id="27" name="device-3-link"/>
          <p:cNvSpPr/>
          <p:nvPr/>
        </p:nvSpPr>
        <p:spPr>
          <a:xfrm>
            <a:off x="68580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8" name="server"/>
          <p:cNvSpPr/>
          <p:nvPr/>
        </p:nvSpPr>
        <p:spPr>
          <a:xfrm>
            <a:off x="548640" y="3246120"/>
            <a:ext cx="7132320" cy="2880360"/>
          </a:xfrm>
          <a:prstGeom prst="roundRect">
            <a:avLst>
              <a:gd name="adj" fmla="val 3175"/>
            </a:avLst>
          </a:prstGeom>
          <a:solidFill>
            <a:schemeClr val="accent3"/>
          </a:solidFill>
          <a:ln/>
        </p:spPr>
      </p:sp>
      <p:sp>
        <p:nvSpPr>
          <p:cNvPr id="29" name="server-title"/>
          <p:cNvSpPr txBox="1"/>
          <p:nvPr/>
        </p:nvSpPr>
        <p:spPr>
          <a:xfrm>
            <a:off x="777240" y="34107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数字世界服务端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　Java 17 · 只依赖 Gson · 20 Hz 单线程仿真</a:t>
            </a:r>
            <a:endParaRPr lang="en-US" sz="1400" dirty="0"/>
          </a:p>
        </p:txBody>
      </p:sp>
      <p:sp>
        <p:nvSpPr>
          <p:cNvPr id="30" name="module-0"/>
          <p:cNvSpPr/>
          <p:nvPr/>
        </p:nvSpPr>
        <p:spPr>
          <a:xfrm>
            <a:off x="777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1" name="module-0-text"/>
          <p:cNvSpPr txBox="1"/>
          <p:nvPr/>
        </p:nvSpPr>
        <p:spPr>
          <a:xfrm>
            <a:off x="941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派单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匈牙利算法全局匹配</a:t>
            </a:r>
            <a:endParaRPr lang="en-US" sz="1400" dirty="0"/>
          </a:p>
        </p:txBody>
      </p:sp>
      <p:sp>
        <p:nvSpPr>
          <p:cNvPr id="32" name="module-1"/>
          <p:cNvSpPr/>
          <p:nvPr/>
        </p:nvSpPr>
        <p:spPr>
          <a:xfrm>
            <a:off x="3063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3" name="module-1-text"/>
          <p:cNvSpPr txBox="1"/>
          <p:nvPr/>
        </p:nvSpPr>
        <p:spPr>
          <a:xfrm>
            <a:off x="3227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路径规划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A*：格子 + 驶入方向</a:t>
            </a:r>
            <a:endParaRPr lang="en-US" sz="1400" dirty="0"/>
          </a:p>
        </p:txBody>
      </p:sp>
      <p:sp>
        <p:nvSpPr>
          <p:cNvPr id="34" name="module-2"/>
          <p:cNvSpPr/>
          <p:nvPr/>
        </p:nvSpPr>
        <p:spPr>
          <a:xfrm>
            <a:off x="5349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5" name="module-2-text"/>
          <p:cNvSpPr txBox="1"/>
          <p:nvPr/>
        </p:nvSpPr>
        <p:spPr>
          <a:xfrm>
            <a:off x="5513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交通管控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格子预约 + 移动授权</a:t>
            </a:r>
            <a:endParaRPr lang="en-US" sz="1400" dirty="0"/>
          </a:p>
        </p:txBody>
      </p:sp>
      <p:sp>
        <p:nvSpPr>
          <p:cNvPr id="36" name="module-3"/>
          <p:cNvSpPr/>
          <p:nvPr/>
        </p:nvSpPr>
        <p:spPr>
          <a:xfrm>
            <a:off x="777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7" name="module-3-text"/>
          <p:cNvSpPr txBox="1"/>
          <p:nvPr/>
        </p:nvSpPr>
        <p:spPr>
          <a:xfrm>
            <a:off x="941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感知建图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激光雷达 + 占据栅格</a:t>
            </a:r>
            <a:endParaRPr lang="en-US" sz="1400" dirty="0"/>
          </a:p>
        </p:txBody>
      </p:sp>
      <p:sp>
        <p:nvSpPr>
          <p:cNvPr id="38" name="module-4"/>
          <p:cNvSpPr/>
          <p:nvPr/>
        </p:nvSpPr>
        <p:spPr>
          <a:xfrm>
            <a:off x="3063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9" name="module-4-text"/>
          <p:cNvSpPr txBox="1"/>
          <p:nvPr/>
        </p:nvSpPr>
        <p:spPr>
          <a:xfrm>
            <a:off x="3227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图像识别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颜色分割 + 针孔测距</a:t>
            </a:r>
            <a:endParaRPr lang="en-US" sz="1400" dirty="0"/>
          </a:p>
        </p:txBody>
      </p:sp>
      <p:sp>
        <p:nvSpPr>
          <p:cNvPr id="40" name="module-5"/>
          <p:cNvSpPr/>
          <p:nvPr/>
        </p:nvSpPr>
        <p:spPr>
          <a:xfrm>
            <a:off x="5349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1" name="module-5-text"/>
          <p:cNvSpPr txBox="1"/>
          <p:nvPr/>
        </p:nvSpPr>
        <p:spPr>
          <a:xfrm>
            <a:off x="5513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场景脚本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按时间自动触发情节</a:t>
            </a:r>
            <a:endParaRPr lang="en-US" sz="1400" dirty="0"/>
          </a:p>
        </p:txBody>
      </p:sp>
      <p:sp>
        <p:nvSpPr>
          <p:cNvPr id="42" name="pillar-0"/>
          <p:cNvSpPr/>
          <p:nvPr/>
        </p:nvSpPr>
        <p:spPr>
          <a:xfrm>
            <a:off x="8046720" y="164592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3" name="pillar-0-circle"/>
          <p:cNvSpPr/>
          <p:nvPr/>
        </p:nvSpPr>
        <p:spPr>
          <a:xfrm>
            <a:off x="8275320" y="184708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4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984248"/>
            <a:ext cx="274320" cy="274320"/>
          </a:xfrm>
          <a:prstGeom prst="rect">
            <a:avLst/>
          </a:prstGeom>
        </p:spPr>
      </p:pic>
      <p:sp>
        <p:nvSpPr>
          <p:cNvPr id="45" name="pillar-0-title"/>
          <p:cNvSpPr txBox="1"/>
          <p:nvPr/>
        </p:nvSpPr>
        <p:spPr>
          <a:xfrm>
            <a:off x="9006840" y="184708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零碰撞由机制保证</a:t>
            </a:r>
            <a:endParaRPr lang="en-US" sz="1600" dirty="0"/>
          </a:p>
        </p:txBody>
      </p:sp>
      <p:sp>
        <p:nvSpPr>
          <p:cNvPr id="46" name="pillar-0-text"/>
          <p:cNvSpPr txBox="1"/>
          <p:nvPr/>
        </p:nvSpPr>
        <p:spPr>
          <a:xfrm>
            <a:off x="9006840" y="228600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每辆车只能驶入授权给它的格子，任意两车的授权格互不相交</a:t>
            </a:r>
            <a:endParaRPr lang="en-US" sz="1300" dirty="0"/>
          </a:p>
        </p:txBody>
      </p:sp>
      <p:sp>
        <p:nvSpPr>
          <p:cNvPr id="47" name="pillar-1"/>
          <p:cNvSpPr/>
          <p:nvPr/>
        </p:nvSpPr>
        <p:spPr>
          <a:xfrm>
            <a:off x="8046720" y="321564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8" name="pillar-1-circle"/>
          <p:cNvSpPr/>
          <p:nvPr/>
        </p:nvSpPr>
        <p:spPr>
          <a:xfrm>
            <a:off x="8275320" y="34168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9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3968"/>
            <a:ext cx="274320" cy="274320"/>
          </a:xfrm>
          <a:prstGeom prst="rect">
            <a:avLst/>
          </a:prstGeom>
        </p:spPr>
      </p:pic>
      <p:sp>
        <p:nvSpPr>
          <p:cNvPr id="50" name="pillar-1-title"/>
          <p:cNvSpPr txBox="1"/>
          <p:nvPr/>
        </p:nvSpPr>
        <p:spPr>
          <a:xfrm>
            <a:off x="9006840" y="341680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断线自动接管</a:t>
            </a:r>
            <a:endParaRPr lang="en-US" sz="1600" dirty="0"/>
          </a:p>
        </p:txBody>
      </p:sp>
      <p:sp>
        <p:nvSpPr>
          <p:cNvPr id="51" name="pillar-1-text"/>
          <p:cNvSpPr txBox="1"/>
          <p:nvPr/>
        </p:nvSpPr>
        <p:spPr>
          <a:xfrm>
            <a:off x="9006840" y="385572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设备 3 s 无消息，内部仿真接手驾驶，系统不停摆</a:t>
            </a:r>
            <a:endParaRPr lang="en-US" sz="1300" dirty="0"/>
          </a:p>
        </p:txBody>
      </p:sp>
      <p:sp>
        <p:nvSpPr>
          <p:cNvPr id="52" name="pillar-2"/>
          <p:cNvSpPr/>
          <p:nvPr/>
        </p:nvSpPr>
        <p:spPr>
          <a:xfrm>
            <a:off x="8046720" y="478536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53" name="pillar-2-circle"/>
          <p:cNvSpPr/>
          <p:nvPr/>
        </p:nvSpPr>
        <p:spPr>
          <a:xfrm>
            <a:off x="8275320" y="49865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4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5123688"/>
            <a:ext cx="274320" cy="274320"/>
          </a:xfrm>
          <a:prstGeom prst="rect">
            <a:avLst/>
          </a:prstGeom>
        </p:spPr>
      </p:pic>
      <p:sp>
        <p:nvSpPr>
          <p:cNvPr id="55" name="pillar-2-title"/>
          <p:cNvSpPr txBox="1"/>
          <p:nvPr/>
        </p:nvSpPr>
        <p:spPr>
          <a:xfrm>
            <a:off x="9006840" y="498652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全自主运行</a:t>
            </a:r>
            <a:endParaRPr lang="en-US" sz="1600" dirty="0"/>
          </a:p>
        </p:txBody>
      </p:sp>
      <p:sp>
        <p:nvSpPr>
          <p:cNvPr id="56" name="pillar-2-text"/>
          <p:cNvSpPr txBox="1"/>
          <p:nvPr/>
        </p:nvSpPr>
        <p:spPr>
          <a:xfrm>
            <a:off x="9006840" y="542544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一键启动；场景脚本按时间自动触发全部演示情节，考核中无需人工操作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派单与调度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A* 规划路线，匈牙利算法求全局最优派单：接近饱和时平均等车时间减少 45%</a:t>
            </a:r>
            <a:endParaRPr lang="en-US" sz="1600" dirty="0"/>
          </a:p>
        </p:txBody>
      </p:sp>
      <p:sp>
        <p:nvSpPr>
          <p:cNvPr id="4" name="algo-0"/>
          <p:cNvSpPr/>
          <p:nvPr/>
        </p:nvSpPr>
        <p:spPr>
          <a:xfrm>
            <a:off x="54864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lgo-0-circle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274320" cy="274320"/>
          </a:xfrm>
          <a:prstGeom prst="rect">
            <a:avLst/>
          </a:prstGeom>
        </p:spPr>
      </p:pic>
      <p:sp>
        <p:nvSpPr>
          <p:cNvPr id="7" name="algo-0-title"/>
          <p:cNvSpPr txBox="1"/>
          <p:nvPr/>
        </p:nvSpPr>
        <p:spPr>
          <a:xfrm>
            <a:off x="1536192" y="18013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A* 路径规划</a:t>
            </a:r>
            <a:endParaRPr lang="en-US" sz="1700" dirty="0"/>
          </a:p>
        </p:txBody>
      </p:sp>
      <p:sp>
        <p:nvSpPr>
          <p:cNvPr id="8" name="algo-0-text"/>
          <p:cNvSpPr txBox="1"/>
          <p:nvPr/>
        </p:nvSpPr>
        <p:spPr>
          <a:xfrm>
            <a:off x="1536192" y="22128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状态 = 格子 + 驶入方向：遵守车道方向、禁止原地掉头；单行道被堵死时借对向车道掉头</a:t>
            </a:r>
            <a:endParaRPr lang="en-US" sz="1300" dirty="0"/>
          </a:p>
        </p:txBody>
      </p:sp>
      <p:sp>
        <p:nvSpPr>
          <p:cNvPr id="9" name="algo-1"/>
          <p:cNvSpPr/>
          <p:nvPr/>
        </p:nvSpPr>
        <p:spPr>
          <a:xfrm>
            <a:off x="548640" y="320040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algo-1-circle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49040"/>
            <a:ext cx="274320" cy="274320"/>
          </a:xfrm>
          <a:prstGeom prst="rect">
            <a:avLst/>
          </a:prstGeom>
        </p:spPr>
      </p:pic>
      <p:sp>
        <p:nvSpPr>
          <p:cNvPr id="12" name="algo-1-title"/>
          <p:cNvSpPr txBox="1"/>
          <p:nvPr/>
        </p:nvSpPr>
        <p:spPr>
          <a:xfrm>
            <a:off x="1536192" y="33558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匈牙利算法派单</a:t>
            </a:r>
            <a:endParaRPr lang="en-US" sz="1700" dirty="0"/>
          </a:p>
        </p:txBody>
      </p:sp>
      <p:sp>
        <p:nvSpPr>
          <p:cNvPr id="13" name="algo-1-text"/>
          <p:cNvSpPr txBox="1"/>
          <p:nvPr/>
        </p:nvSpPr>
        <p:spPr>
          <a:xfrm>
            <a:off x="1536192" y="376732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2 s 把“空车 × 订单”建成代价矩阵求全局最优匹配，代价 = 接驾距离 − 等待时间权重</a:t>
            </a:r>
            <a:endParaRPr lang="en-US" sz="1300" dirty="0"/>
          </a:p>
        </p:txBody>
      </p:sp>
      <p:sp>
        <p:nvSpPr>
          <p:cNvPr id="14" name="algo-2"/>
          <p:cNvSpPr/>
          <p:nvPr/>
        </p:nvSpPr>
        <p:spPr>
          <a:xfrm>
            <a:off x="548640" y="475488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5" name="algo-2-circle"/>
          <p:cNvSpPr/>
          <p:nvPr/>
        </p:nvSpPr>
        <p:spPr>
          <a:xfrm>
            <a:off x="77724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303520"/>
            <a:ext cx="274320" cy="274320"/>
          </a:xfrm>
          <a:prstGeom prst="rect">
            <a:avLst/>
          </a:prstGeom>
        </p:spPr>
      </p:pic>
      <p:sp>
        <p:nvSpPr>
          <p:cNvPr id="17" name="algo-2-title"/>
          <p:cNvSpPr txBox="1"/>
          <p:nvPr/>
        </p:nvSpPr>
        <p:spPr>
          <a:xfrm>
            <a:off x="1536192" y="49103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空车调度</a:t>
            </a:r>
            <a:endParaRPr lang="en-US" sz="1700" dirty="0"/>
          </a:p>
        </p:txBody>
      </p:sp>
      <p:sp>
        <p:nvSpPr>
          <p:cNvPr id="18" name="algo-2-text"/>
          <p:cNvSpPr txBox="1"/>
          <p:nvPr/>
        </p:nvSpPr>
        <p:spPr>
          <a:xfrm>
            <a:off x="1536192" y="532180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 × 9 格分区预测需求（τ = 180 s 衰减），把多余的空车提前调往即将缺车的区域</a:t>
            </a:r>
            <a:endParaRPr lang="en-US" sz="1300" dirty="0"/>
          </a:p>
        </p:txBody>
      </p:sp>
      <p:graphicFrame>
        <p:nvGraphicFramePr>
          <p:cNvPr id="19" name="dispatch-chart" descr=""/>
          <p:cNvGraphicFramePr/>
          <p:nvPr/>
        </p:nvGraphicFramePr>
        <p:xfrm>
          <a:off x="6126480" y="1645920"/>
          <a:ext cx="551657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dispatch-stats"/>
          <p:cNvSpPr/>
          <p:nvPr/>
        </p:nvSpPr>
        <p:spPr>
          <a:xfrm>
            <a:off x="6126480" y="4754880"/>
            <a:ext cx="5516575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1" name="stat2-0-num"/>
          <p:cNvSpPr txBox="1"/>
          <p:nvPr/>
        </p:nvSpPr>
        <p:spPr>
          <a:xfrm>
            <a:off x="6400800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−45%</a:t>
            </a:r>
            <a:endParaRPr lang="en-US" sz="3600" dirty="0"/>
          </a:p>
        </p:txBody>
      </p:sp>
      <p:sp>
        <p:nvSpPr>
          <p:cNvPr id="22" name="stat2-0-label"/>
          <p:cNvSpPr txBox="1"/>
          <p:nvPr/>
        </p:nvSpPr>
        <p:spPr>
          <a:xfrm>
            <a:off x="6400800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 16 单/分时的平均等待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匈牙利 38.6 s，贪心 70.4 s</a:t>
            </a:r>
            <a:endParaRPr lang="en-US" sz="1300" dirty="0"/>
          </a:p>
        </p:txBody>
      </p:sp>
      <p:sp>
        <p:nvSpPr>
          <p:cNvPr id="23" name="stat2-1-num"/>
          <p:cNvSpPr txBox="1"/>
          <p:nvPr/>
        </p:nvSpPr>
        <p:spPr>
          <a:xfrm>
            <a:off x="9159088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−20%</a:t>
            </a:r>
            <a:endParaRPr lang="en-US" sz="3600" dirty="0"/>
          </a:p>
        </p:txBody>
      </p:sp>
      <p:sp>
        <p:nvSpPr>
          <p:cNvPr id="24" name="stat2-1-label"/>
          <p:cNvSpPr txBox="1"/>
          <p:nvPr/>
        </p:nvSpPr>
        <p:spPr>
          <a:xfrm>
            <a:off x="9159088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潮汐需求下开启空车调度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 单/分，8 个种子配对比较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安全与感知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车辆只能驶入服务端授权的格子；未知障碍由每辆车的模拟激光雷达发现，再写入全局地图</a:t>
            </a:r>
            <a:endParaRPr lang="en-US" sz="1600" dirty="0"/>
          </a:p>
        </p:txBody>
      </p:sp>
      <p:pic>
        <p:nvPicPr>
          <p:cNvPr id="4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8521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overview-caption"/>
          <p:cNvSpPr txBox="1"/>
          <p:nvPr/>
        </p:nvSpPr>
        <p:spPr>
          <a:xfrm>
            <a:off x="548640" y="54132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200" dirty="0"/>
          </a:p>
        </p:txBody>
      </p:sp>
      <p:sp>
        <p:nvSpPr>
          <p:cNvPr id="6" name="permit-panel"/>
          <p:cNvSpPr/>
          <p:nvPr/>
        </p:nvSpPr>
        <p:spPr>
          <a:xfrm>
            <a:off x="6720840" y="164592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7" name="permit-title"/>
          <p:cNvSpPr txBox="1"/>
          <p:nvPr/>
        </p:nvSpPr>
        <p:spPr>
          <a:xfrm>
            <a:off x="6995160" y="179222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移动授权：一格一车</a:t>
            </a:r>
            <a:endParaRPr lang="en-US" sz="1600" dirty="0"/>
          </a:p>
        </p:txBody>
      </p:sp>
      <p:sp>
        <p:nvSpPr>
          <p:cNvPr id="8" name="permit-road"/>
          <p:cNvSpPr/>
          <p:nvPr/>
        </p:nvSpPr>
        <p:spPr>
          <a:xfrm>
            <a:off x="6995160" y="2249424"/>
            <a:ext cx="4373575" cy="50732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permit-cell-0"/>
          <p:cNvSpPr/>
          <p:nvPr/>
        </p:nvSpPr>
        <p:spPr>
          <a:xfrm>
            <a:off x="7022592" y="2304288"/>
            <a:ext cx="342734" cy="397598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0" name="permit-carA" descr="车 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800" y="2363928"/>
            <a:ext cx="278318" cy="278318"/>
          </a:xfrm>
          <a:prstGeom prst="rect">
            <a:avLst/>
          </a:prstGeom>
        </p:spPr>
      </p:pic>
      <p:sp>
        <p:nvSpPr>
          <p:cNvPr id="11" name="permit-cell-1"/>
          <p:cNvSpPr/>
          <p:nvPr/>
        </p:nvSpPr>
        <p:spPr>
          <a:xfrm>
            <a:off x="7420190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permit-cell-2"/>
          <p:cNvSpPr/>
          <p:nvPr/>
        </p:nvSpPr>
        <p:spPr>
          <a:xfrm>
            <a:off x="7817787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3" name="permit-cell-3"/>
          <p:cNvSpPr/>
          <p:nvPr/>
        </p:nvSpPr>
        <p:spPr>
          <a:xfrm>
            <a:off x="8215385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permit-cell-4"/>
          <p:cNvSpPr/>
          <p:nvPr/>
        </p:nvSpPr>
        <p:spPr>
          <a:xfrm>
            <a:off x="8612983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5" name="permit-cell-5"/>
          <p:cNvSpPr/>
          <p:nvPr/>
        </p:nvSpPr>
        <p:spPr>
          <a:xfrm>
            <a:off x="9010581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6" name="permit-cell-6"/>
          <p:cNvSpPr/>
          <p:nvPr/>
        </p:nvSpPr>
        <p:spPr>
          <a:xfrm>
            <a:off x="9408178" y="2304288"/>
            <a:ext cx="342734" cy="397598"/>
          </a:xfrm>
          <a:prstGeom prst="rect">
            <a:avLst/>
          </a:prstGeom>
          <a:solidFill>
            <a:schemeClr val="accent2"/>
          </a:solidFill>
          <a:ln/>
        </p:spPr>
      </p:sp>
      <p:pic>
        <p:nvPicPr>
          <p:cNvPr id="17" name="permit-carB" descr="车 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386" y="2363928"/>
            <a:ext cx="278318" cy="278318"/>
          </a:xfrm>
          <a:prstGeom prst="rect">
            <a:avLst/>
          </a:prstGeom>
        </p:spPr>
      </p:pic>
      <p:sp>
        <p:nvSpPr>
          <p:cNvPr id="18" name="permit-cell-7"/>
          <p:cNvSpPr/>
          <p:nvPr/>
        </p:nvSpPr>
        <p:spPr>
          <a:xfrm>
            <a:off x="9805776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9" name="permit-cell-8"/>
          <p:cNvSpPr/>
          <p:nvPr/>
        </p:nvSpPr>
        <p:spPr>
          <a:xfrm>
            <a:off x="10203374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0" name="permit-cell-9"/>
          <p:cNvSpPr/>
          <p:nvPr/>
        </p:nvSpPr>
        <p:spPr>
          <a:xfrm>
            <a:off x="10600972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1" name="permit-cell-10"/>
          <p:cNvSpPr/>
          <p:nvPr/>
        </p:nvSpPr>
        <p:spPr>
          <a:xfrm>
            <a:off x="10998569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2" name="permit-stop"/>
          <p:cNvSpPr/>
          <p:nvPr/>
        </p:nvSpPr>
        <p:spPr>
          <a:xfrm>
            <a:off x="8457535" y="2194560"/>
            <a:ext cx="45720" cy="61705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permit-label-a"/>
          <p:cNvSpPr txBox="1"/>
          <p:nvPr/>
        </p:nvSpPr>
        <p:spPr>
          <a:xfrm>
            <a:off x="7392758" y="2811614"/>
            <a:ext cx="11927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的授权</a:t>
            </a:r>
            <a:endParaRPr lang="en-US" sz="1300" dirty="0"/>
          </a:p>
        </p:txBody>
      </p:sp>
      <p:sp>
        <p:nvSpPr>
          <p:cNvPr id="24" name="permit-label-b"/>
          <p:cNvSpPr txBox="1"/>
          <p:nvPr/>
        </p:nvSpPr>
        <p:spPr>
          <a:xfrm>
            <a:off x="9778344" y="2811614"/>
            <a:ext cx="7951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的授权</a:t>
            </a:r>
            <a:endParaRPr lang="en-US" sz="1300" dirty="0"/>
          </a:p>
        </p:txBody>
      </p:sp>
      <p:sp>
        <p:nvSpPr>
          <p:cNvPr id="25" name="permit-text"/>
          <p:cNvSpPr txBox="1"/>
          <p:nvPr/>
        </p:nvSpPr>
        <p:spPr>
          <a:xfrm>
            <a:off x="6995160" y="3159086"/>
            <a:ext cx="4373575" cy="521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橙线是 A 的停车点；路口整段 + 出口格一次申请，不堵路口；受阻 3 s 优先、12 s 绕行，没有死锁</a:t>
            </a:r>
            <a:endParaRPr lang="en-US" sz="1300" dirty="0"/>
          </a:p>
        </p:txBody>
      </p:sp>
      <p:sp>
        <p:nvSpPr>
          <p:cNvPr id="26" name="sense-panel"/>
          <p:cNvSpPr/>
          <p:nvPr/>
        </p:nvSpPr>
        <p:spPr>
          <a:xfrm>
            <a:off x="6720840" y="400050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27" name="sense-title"/>
          <p:cNvSpPr txBox="1"/>
          <p:nvPr/>
        </p:nvSpPr>
        <p:spPr>
          <a:xfrm>
            <a:off x="6995160" y="41468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感知建图：发现未知障碍</a:t>
            </a:r>
            <a:endParaRPr lang="en-US" sz="1600" dirty="0"/>
          </a:p>
        </p:txBody>
      </p:sp>
      <p:sp>
        <p:nvSpPr>
          <p:cNvPr id="28" name="sense-step-0"/>
          <p:cNvSpPr/>
          <p:nvPr/>
        </p:nvSpPr>
        <p:spPr>
          <a:xfrm>
            <a:off x="6995160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29" name="sense-step-0-text"/>
          <p:cNvSpPr txBox="1"/>
          <p:nvPr/>
        </p:nvSpPr>
        <p:spPr>
          <a:xfrm>
            <a:off x="7040880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激光雷达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48 束 3 m</a:t>
            </a:r>
            <a:endParaRPr lang="en-US" sz="1300" dirty="0"/>
          </a:p>
        </p:txBody>
      </p:sp>
      <p:sp>
        <p:nvSpPr>
          <p:cNvPr id="30" name="sense-arrow-0"/>
          <p:cNvSpPr/>
          <p:nvPr/>
        </p:nvSpPr>
        <p:spPr>
          <a:xfrm>
            <a:off x="7992542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sense-step-1"/>
          <p:cNvSpPr/>
          <p:nvPr/>
        </p:nvSpPr>
        <p:spPr>
          <a:xfrm>
            <a:off x="8138846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2" name="sense-step-1-text"/>
          <p:cNvSpPr txBox="1"/>
          <p:nvPr/>
        </p:nvSpPr>
        <p:spPr>
          <a:xfrm>
            <a:off x="8184566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占据栅格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累计证据</a:t>
            </a:r>
            <a:endParaRPr lang="en-US" sz="1300" dirty="0"/>
          </a:p>
        </p:txBody>
      </p:sp>
      <p:sp>
        <p:nvSpPr>
          <p:cNvPr id="33" name="sense-arrow-1"/>
          <p:cNvSpPr/>
          <p:nvPr/>
        </p:nvSpPr>
        <p:spPr>
          <a:xfrm>
            <a:off x="9136228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sense-step-2"/>
          <p:cNvSpPr/>
          <p:nvPr/>
        </p:nvSpPr>
        <p:spPr>
          <a:xfrm>
            <a:off x="9282532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5" name="sense-step-2-text"/>
          <p:cNvSpPr txBox="1"/>
          <p:nvPr/>
        </p:nvSpPr>
        <p:spPr>
          <a:xfrm>
            <a:off x="9328252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写入地图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收回授权</a:t>
            </a:r>
            <a:endParaRPr lang="en-US" sz="1300" dirty="0"/>
          </a:p>
        </p:txBody>
      </p:sp>
      <p:sp>
        <p:nvSpPr>
          <p:cNvPr id="36" name="sense-arrow-2"/>
          <p:cNvSpPr/>
          <p:nvPr/>
        </p:nvSpPr>
        <p:spPr>
          <a:xfrm>
            <a:off x="10279913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ense-step-3"/>
          <p:cNvSpPr/>
          <p:nvPr/>
        </p:nvSpPr>
        <p:spPr>
          <a:xfrm>
            <a:off x="10426217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/>
        </p:spPr>
      </p:sp>
      <p:sp>
        <p:nvSpPr>
          <p:cNvPr id="38" name="sense-step-3-text"/>
          <p:cNvSpPr txBox="1"/>
          <p:nvPr/>
        </p:nvSpPr>
        <p:spPr>
          <a:xfrm>
            <a:off x="10471937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车辆绕行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或掉头</a:t>
            </a:r>
            <a:endParaRPr lang="en-US" sz="1300" dirty="0"/>
          </a:p>
        </p:txBody>
      </p:sp>
      <p:sp>
        <p:nvSpPr>
          <p:cNvPr id="39" name="sense-stat-0-num"/>
          <p:cNvSpPr txBox="1"/>
          <p:nvPr/>
        </p:nvSpPr>
        <p:spPr>
          <a:xfrm>
            <a:off x="6995160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30.9 s</a:t>
            </a:r>
            <a:endParaRPr lang="en-US" sz="2400" dirty="0"/>
          </a:p>
        </p:txBody>
      </p:sp>
      <p:sp>
        <p:nvSpPr>
          <p:cNvPr id="40" name="sense-stat-0-label"/>
          <p:cNvSpPr txBox="1"/>
          <p:nvPr/>
        </p:nvSpPr>
        <p:spPr>
          <a:xfrm>
            <a:off x="6995160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障碍出现到被发现（平均）</a:t>
            </a:r>
            <a:endParaRPr lang="en-US" sz="1300" dirty="0"/>
          </a:p>
        </p:txBody>
      </p:sp>
      <p:sp>
        <p:nvSpPr>
          <p:cNvPr id="41" name="sense-stat-1-num"/>
          <p:cNvSpPr txBox="1"/>
          <p:nvPr/>
        </p:nvSpPr>
        <p:spPr>
          <a:xfrm>
            <a:off x="9181948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 误检</a:t>
            </a:r>
            <a:endParaRPr lang="en-US" sz="2400" dirty="0"/>
          </a:p>
        </p:txBody>
      </p:sp>
      <p:sp>
        <p:nvSpPr>
          <p:cNvPr id="42" name="sense-stat-1-label"/>
          <p:cNvSpPr txBox="1"/>
          <p:nvPr/>
        </p:nvSpPr>
        <p:spPr>
          <a:xfrm>
            <a:off x="9181948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车停在障碍前 0.08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手机与端云互动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按课程要求手机模拟一辆车：路线由服务端规划，人走路的速度就是油门</a:t>
            </a:r>
            <a:endParaRPr lang="en-US" sz="1600" dirty="0"/>
          </a:p>
        </p:txBody>
      </p:sp>
      <p:sp>
        <p:nvSpPr>
          <p:cNvPr id="4" name="drive-label"/>
          <p:cNvSpPr txBox="1"/>
          <p:nvPr/>
        </p:nvSpPr>
        <p:spPr>
          <a:xfrm>
            <a:off x="548640" y="1645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走路驾驶：手机 = 模拟车 car-6</a:t>
            </a:r>
            <a:endParaRPr lang="en-US" sz="1600" dirty="0"/>
          </a:p>
        </p:txBody>
      </p:sp>
      <p:sp>
        <p:nvSpPr>
          <p:cNvPr id="5" name="drive-step-0"/>
          <p:cNvSpPr/>
          <p:nvPr/>
        </p:nvSpPr>
        <p:spPr>
          <a:xfrm>
            <a:off x="54864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drive-step-0-text"/>
          <p:cNvSpPr txBox="1"/>
          <p:nvPr/>
        </p:nvSpPr>
        <p:spPr>
          <a:xfrm>
            <a:off x="59436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加速度计步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Weinberg 步长</a:t>
            </a:r>
            <a:endParaRPr lang="en-US" sz="1400" dirty="0"/>
          </a:p>
        </p:txBody>
      </p:sp>
      <p:sp>
        <p:nvSpPr>
          <p:cNvPr id="7" name="drive-arrow-0"/>
          <p:cNvSpPr/>
          <p:nvPr/>
        </p:nvSpPr>
        <p:spPr>
          <a:xfrm>
            <a:off x="212369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drive-step-1"/>
          <p:cNvSpPr/>
          <p:nvPr/>
        </p:nvSpPr>
        <p:spPr>
          <a:xfrm>
            <a:off x="238887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drive-step-1-text"/>
          <p:cNvSpPr txBox="1"/>
          <p:nvPr/>
        </p:nvSpPr>
        <p:spPr>
          <a:xfrm>
            <a:off x="243459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走路速度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步长 × 步频</a:t>
            </a:r>
            <a:endParaRPr lang="en-US" sz="1400" dirty="0"/>
          </a:p>
        </p:txBody>
      </p:sp>
      <p:sp>
        <p:nvSpPr>
          <p:cNvPr id="10" name="drive-arrow-1"/>
          <p:cNvSpPr/>
          <p:nvPr/>
        </p:nvSpPr>
        <p:spPr>
          <a:xfrm>
            <a:off x="396392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drive-step-2"/>
          <p:cNvSpPr/>
          <p:nvPr/>
        </p:nvSpPr>
        <p:spPr>
          <a:xfrm>
            <a:off x="422910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drive-step-2-text"/>
          <p:cNvSpPr txBox="1"/>
          <p:nvPr/>
        </p:nvSpPr>
        <p:spPr>
          <a:xfrm>
            <a:off x="427482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× 驾驶比例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期望车速</a:t>
            </a:r>
            <a:endParaRPr lang="en-US" sz="1400" dirty="0"/>
          </a:p>
        </p:txBody>
      </p:sp>
      <p:sp>
        <p:nvSpPr>
          <p:cNvPr id="13" name="drive-arrow-2"/>
          <p:cNvSpPr/>
          <p:nvPr/>
        </p:nvSpPr>
        <p:spPr>
          <a:xfrm>
            <a:off x="580415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drive-step-3"/>
          <p:cNvSpPr/>
          <p:nvPr/>
        </p:nvSpPr>
        <p:spPr>
          <a:xfrm>
            <a:off x="606933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5" name="drive-step-3-text"/>
          <p:cNvSpPr txBox="1"/>
          <p:nvPr/>
        </p:nvSpPr>
        <p:spPr>
          <a:xfrm>
            <a:off x="611505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沿路线前进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不越过停车点</a:t>
            </a:r>
            <a:endParaRPr lang="en-US" sz="1400" dirty="0"/>
          </a:p>
        </p:txBody>
      </p:sp>
      <p:sp>
        <p:nvSpPr>
          <p:cNvPr id="16" name="vision-label"/>
          <p:cNvSpPr txBox="1"/>
          <p:nvPr/>
        </p:nvSpPr>
        <p:spPr>
          <a:xfrm>
            <a:off x="548640" y="32461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600" dirty="0"/>
          </a:p>
        </p:txBody>
      </p:sp>
      <p:sp>
        <p:nvSpPr>
          <p:cNvPr id="17" name="vision-step-0"/>
          <p:cNvSpPr/>
          <p:nvPr/>
        </p:nvSpPr>
        <p:spPr>
          <a:xfrm>
            <a:off x="54864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8" name="vision-step-0-text"/>
          <p:cNvSpPr txBox="1"/>
          <p:nvPr/>
        </p:nvSpPr>
        <p:spPr>
          <a:xfrm>
            <a:off x="59436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手机拍照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上传</a:t>
            </a:r>
            <a:endParaRPr lang="en-US" sz="1400" dirty="0"/>
          </a:p>
        </p:txBody>
      </p:sp>
      <p:sp>
        <p:nvSpPr>
          <p:cNvPr id="19" name="vision-arrow-0"/>
          <p:cNvSpPr/>
          <p:nvPr/>
        </p:nvSpPr>
        <p:spPr>
          <a:xfrm>
            <a:off x="212369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vision-step-1"/>
          <p:cNvSpPr/>
          <p:nvPr/>
        </p:nvSpPr>
        <p:spPr>
          <a:xfrm>
            <a:off x="238887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1" name="vision-step-1-text"/>
          <p:cNvSpPr txBox="1"/>
          <p:nvPr/>
        </p:nvSpPr>
        <p:spPr>
          <a:xfrm>
            <a:off x="243459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HSV 分割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+ 连通域</a:t>
            </a:r>
            <a:endParaRPr lang="en-US" sz="1400" dirty="0"/>
          </a:p>
        </p:txBody>
      </p:sp>
      <p:sp>
        <p:nvSpPr>
          <p:cNvPr id="22" name="vision-arrow-1"/>
          <p:cNvSpPr/>
          <p:nvPr/>
        </p:nvSpPr>
        <p:spPr>
          <a:xfrm>
            <a:off x="396392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vision-step-2"/>
          <p:cNvSpPr/>
          <p:nvPr/>
        </p:nvSpPr>
        <p:spPr>
          <a:xfrm>
            <a:off x="422910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4" name="vision-step-2-text"/>
          <p:cNvSpPr txBox="1"/>
          <p:nvPr/>
        </p:nvSpPr>
        <p:spPr>
          <a:xfrm>
            <a:off x="427482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针孔模型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测距落格</a:t>
            </a:r>
            <a:endParaRPr lang="en-US" sz="1400" dirty="0"/>
          </a:p>
        </p:txBody>
      </p:sp>
      <p:sp>
        <p:nvSpPr>
          <p:cNvPr id="25" name="vision-arrow-2"/>
          <p:cNvSpPr/>
          <p:nvPr/>
        </p:nvSpPr>
        <p:spPr>
          <a:xfrm>
            <a:off x="580415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vision-step-3"/>
          <p:cNvSpPr/>
          <p:nvPr/>
        </p:nvSpPr>
        <p:spPr>
          <a:xfrm>
            <a:off x="606933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7" name="vision-step-3-text"/>
          <p:cNvSpPr txBox="1"/>
          <p:nvPr/>
        </p:nvSpPr>
        <p:spPr>
          <a:xfrm>
            <a:off x="611505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写入地图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车辆绕行</a:t>
            </a:r>
            <a:endParaRPr lang="en-US" sz="1400" dirty="0"/>
          </a:p>
        </p:txBody>
      </p:sp>
      <p:sp>
        <p:nvSpPr>
          <p:cNvPr id="28" name="stat4-0-num"/>
          <p:cNvSpPr txBox="1"/>
          <p:nvPr/>
        </p:nvSpPr>
        <p:spPr>
          <a:xfrm>
            <a:off x="54864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≤ 1 步</a:t>
            </a:r>
            <a:endParaRPr lang="en-US" sz="3200" dirty="0"/>
          </a:p>
        </p:txBody>
      </p:sp>
      <p:sp>
        <p:nvSpPr>
          <p:cNvPr id="29" name="stat4-0-label"/>
          <p:cNvSpPr txBox="1"/>
          <p:nvPr/>
        </p:nvSpPr>
        <p:spPr>
          <a:xfrm>
            <a:off x="54864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计步误差（慢走、快走、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竖拿、斜拿）</a:t>
            </a:r>
            <a:endParaRPr lang="en-US" sz="1300" dirty="0"/>
          </a:p>
        </p:txBody>
      </p:sp>
      <p:sp>
        <p:nvSpPr>
          <p:cNvPr id="30" name="stat4-1-num"/>
          <p:cNvSpPr txBox="1"/>
          <p:nvPr/>
        </p:nvSpPr>
        <p:spPr>
          <a:xfrm>
            <a:off x="289560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0.10 m</a:t>
            </a:r>
            <a:endParaRPr lang="en-US" sz="3200" dirty="0"/>
          </a:p>
        </p:txBody>
      </p:sp>
      <p:sp>
        <p:nvSpPr>
          <p:cNvPr id="31" name="stat4-1-label"/>
          <p:cNvSpPr txBox="1"/>
          <p:nvPr/>
        </p:nvSpPr>
        <p:spPr>
          <a:xfrm>
            <a:off x="289560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手机与服务端看到的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车位置平均相差</a:t>
            </a:r>
            <a:endParaRPr lang="en-US" sz="1300" dirty="0"/>
          </a:p>
        </p:txBody>
      </p:sp>
      <p:sp>
        <p:nvSpPr>
          <p:cNvPr id="32" name="stat4-2-num"/>
          <p:cNvSpPr txBox="1"/>
          <p:nvPr/>
        </p:nvSpPr>
        <p:spPr>
          <a:xfrm>
            <a:off x="524256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1.4×</a:t>
            </a:r>
            <a:endParaRPr lang="en-US" sz="3200" dirty="0"/>
          </a:p>
        </p:txBody>
      </p:sp>
      <p:sp>
        <p:nvSpPr>
          <p:cNvPr id="33" name="stat4-2-label"/>
          <p:cNvSpPr txBox="1"/>
          <p:nvPr/>
        </p:nvSpPr>
        <p:spPr>
          <a:xfrm>
            <a:off x="524256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大图并行加速（2 核）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端到端识别约 30 ms</a:t>
            </a:r>
            <a:endParaRPr lang="en-US" sz="1300" dirty="0"/>
          </a:p>
        </p:txBody>
      </p:sp>
      <p:pic>
        <p:nvPicPr>
          <p:cNvPr id="34" name="phone-minimap" descr="手机 App 小地图截图：我的车与路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45920"/>
            <a:ext cx="3687775" cy="215344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35" name="minimap-caption"/>
          <p:cNvSpPr txBox="1"/>
          <p:nvPr/>
        </p:nvSpPr>
        <p:spPr>
          <a:xfrm>
            <a:off x="7955280" y="3890805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 小地图：我的车、路线和授权停车点</a:t>
            </a:r>
            <a:endParaRPr lang="en-US" sz="1200" dirty="0"/>
          </a:p>
        </p:txBody>
      </p:sp>
      <p:sp>
        <p:nvSpPr>
          <p:cNvPr id="36" name="phone-note-0-circle"/>
          <p:cNvSpPr/>
          <p:nvPr/>
        </p:nvSpPr>
        <p:spPr>
          <a:xfrm>
            <a:off x="7955280" y="4434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phone-note-0-icon" descr="phone-not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010" y="4560570"/>
            <a:ext cx="251460" cy="251460"/>
          </a:xfrm>
          <a:prstGeom prst="rect">
            <a:avLst/>
          </a:prstGeom>
        </p:spPr>
      </p:pic>
      <p:sp>
        <p:nvSpPr>
          <p:cNvPr id="38" name="phone-note-0-text"/>
          <p:cNvSpPr txBox="1"/>
          <p:nvPr/>
        </p:nvSpPr>
        <p:spPr>
          <a:xfrm>
            <a:off x="8641080" y="43434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走快车快、停下车停；受弯道限速和刹车曲线约束，断线 3 s 由内部仿真接管</a:t>
            </a:r>
            <a:endParaRPr lang="en-US" sz="1300" dirty="0"/>
          </a:p>
        </p:txBody>
      </p:sp>
      <p:sp>
        <p:nvSpPr>
          <p:cNvPr id="39" name="phone-note-1-circle"/>
          <p:cNvSpPr/>
          <p:nvPr/>
        </p:nvSpPr>
        <p:spPr>
          <a:xfrm>
            <a:off x="7955280" y="5349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phone-note-1-icon" descr="phone-not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1010" y="5474970"/>
            <a:ext cx="251460" cy="251460"/>
          </a:xfrm>
          <a:prstGeom prst="rect">
            <a:avLst/>
          </a:prstGeom>
        </p:spPr>
      </p:pic>
      <p:sp>
        <p:nvSpPr>
          <p:cNvPr id="41" name="phone-note-1-text"/>
          <p:cNvSpPr txBox="1"/>
          <p:nvPr/>
        </p:nvSpPr>
        <p:spPr>
          <a:xfrm>
            <a:off x="8641080" y="52578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陀螺仪航向 + 零偏估计，室外融合磁力计与北斗 / GPS，估计并记录人的位姿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挑战与评估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课程的六个挑战项全部完成；16 车高负载运行 6 小时零碰撞</a:t>
            </a:r>
            <a:endParaRPr lang="en-US" sz="1600" dirty="0"/>
          </a:p>
        </p:txBody>
      </p:sp>
      <p:pic>
        <p:nvPicPr>
          <p:cNvPr id="4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577840" cy="172865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gazebo-caption"/>
          <p:cNvSpPr txBox="1"/>
          <p:nvPr/>
        </p:nvSpPr>
        <p:spPr>
          <a:xfrm>
            <a:off x="548640" y="34660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Gazebo Harmonic 中的 5 辆差速小车（ROS 2 桥接）：俯视与跟车视角</a:t>
            </a:r>
            <a:endParaRPr lang="en-US" sz="1200" dirty="0"/>
          </a:p>
        </p:txBody>
      </p:sp>
      <p:sp>
        <p:nvSpPr>
          <p:cNvPr id="6" name="challenge-0"/>
          <p:cNvSpPr/>
          <p:nvPr/>
        </p:nvSpPr>
        <p:spPr>
          <a:xfrm>
            <a:off x="54864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challenge-0-circle"/>
          <p:cNvSpPr/>
          <p:nvPr/>
        </p:nvSpPr>
        <p:spPr>
          <a:xfrm>
            <a:off x="71323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4320540"/>
            <a:ext cx="228600" cy="228600"/>
          </a:xfrm>
          <a:prstGeom prst="rect">
            <a:avLst/>
          </a:prstGeom>
        </p:spPr>
      </p:pic>
      <p:sp>
        <p:nvSpPr>
          <p:cNvPr id="9" name="challenge-0-text"/>
          <p:cNvSpPr txBox="1"/>
          <p:nvPr/>
        </p:nvSpPr>
        <p:spPr>
          <a:xfrm>
            <a:off x="128016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3D 可视化</a:t>
            </a:r>
            <a:endParaRPr lang="en-US" sz="1400" dirty="0"/>
          </a:p>
        </p:txBody>
      </p:sp>
      <p:sp>
        <p:nvSpPr>
          <p:cNvPr id="10" name="challenge-1"/>
          <p:cNvSpPr/>
          <p:nvPr/>
        </p:nvSpPr>
        <p:spPr>
          <a:xfrm>
            <a:off x="246888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challenge-1-circle"/>
          <p:cNvSpPr/>
          <p:nvPr/>
        </p:nvSpPr>
        <p:spPr>
          <a:xfrm>
            <a:off x="263347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2" y="4320540"/>
            <a:ext cx="228600" cy="228600"/>
          </a:xfrm>
          <a:prstGeom prst="rect">
            <a:avLst/>
          </a:prstGeom>
        </p:spPr>
      </p:pic>
      <p:sp>
        <p:nvSpPr>
          <p:cNvPr id="13" name="challenge-1-text"/>
          <p:cNvSpPr txBox="1"/>
          <p:nvPr/>
        </p:nvSpPr>
        <p:spPr>
          <a:xfrm>
            <a:off x="320040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感知建图</a:t>
            </a:r>
            <a:endParaRPr lang="en-US" sz="1400" dirty="0"/>
          </a:p>
        </p:txBody>
      </p:sp>
      <p:sp>
        <p:nvSpPr>
          <p:cNvPr id="14" name="challenge-2"/>
          <p:cNvSpPr/>
          <p:nvPr/>
        </p:nvSpPr>
        <p:spPr>
          <a:xfrm>
            <a:off x="438912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challenge-2-circle"/>
          <p:cNvSpPr/>
          <p:nvPr/>
        </p:nvSpPr>
        <p:spPr>
          <a:xfrm>
            <a:off x="455371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012" y="4320540"/>
            <a:ext cx="228600" cy="228600"/>
          </a:xfrm>
          <a:prstGeom prst="rect">
            <a:avLst/>
          </a:prstGeom>
        </p:spPr>
      </p:pic>
      <p:sp>
        <p:nvSpPr>
          <p:cNvPr id="17" name="challenge-2-text"/>
          <p:cNvSpPr txBox="1"/>
          <p:nvPr/>
        </p:nvSpPr>
        <p:spPr>
          <a:xfrm>
            <a:off x="512064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端云互动</a:t>
            </a:r>
            <a:endParaRPr lang="en-US" sz="1400" dirty="0"/>
          </a:p>
        </p:txBody>
      </p:sp>
      <p:sp>
        <p:nvSpPr>
          <p:cNvPr id="18" name="challenge-3"/>
          <p:cNvSpPr/>
          <p:nvPr/>
        </p:nvSpPr>
        <p:spPr>
          <a:xfrm>
            <a:off x="54864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9" name="challenge-3-circle"/>
          <p:cNvSpPr/>
          <p:nvPr/>
        </p:nvSpPr>
        <p:spPr>
          <a:xfrm>
            <a:off x="71323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5509260"/>
            <a:ext cx="228600" cy="228600"/>
          </a:xfrm>
          <a:prstGeom prst="rect">
            <a:avLst/>
          </a:prstGeom>
        </p:spPr>
      </p:pic>
      <p:sp>
        <p:nvSpPr>
          <p:cNvPr id="21" name="challenge-3-text"/>
          <p:cNvSpPr txBox="1"/>
          <p:nvPr/>
        </p:nvSpPr>
        <p:spPr>
          <a:xfrm>
            <a:off x="128016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图像加速</a:t>
            </a:r>
            <a:endParaRPr lang="en-US" sz="1400" dirty="0"/>
          </a:p>
        </p:txBody>
      </p:sp>
      <p:sp>
        <p:nvSpPr>
          <p:cNvPr id="22" name="challenge-4"/>
          <p:cNvSpPr/>
          <p:nvPr/>
        </p:nvSpPr>
        <p:spPr>
          <a:xfrm>
            <a:off x="246888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3" name="challenge-4-circle"/>
          <p:cNvSpPr/>
          <p:nvPr/>
        </p:nvSpPr>
        <p:spPr>
          <a:xfrm>
            <a:off x="263347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7772" y="5509260"/>
            <a:ext cx="228600" cy="228600"/>
          </a:xfrm>
          <a:prstGeom prst="rect">
            <a:avLst/>
          </a:prstGeom>
        </p:spPr>
      </p:pic>
      <p:sp>
        <p:nvSpPr>
          <p:cNvPr id="25" name="challenge-4-text"/>
          <p:cNvSpPr txBox="1"/>
          <p:nvPr/>
        </p:nvSpPr>
        <p:spPr>
          <a:xfrm>
            <a:off x="320040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</a:t>
            </a:r>
            <a:endParaRPr lang="en-US" sz="1400" dirty="0"/>
          </a:p>
        </p:txBody>
      </p:sp>
      <p:sp>
        <p:nvSpPr>
          <p:cNvPr id="26" name="challenge-5"/>
          <p:cNvSpPr/>
          <p:nvPr/>
        </p:nvSpPr>
        <p:spPr>
          <a:xfrm>
            <a:off x="438912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7" name="challenge-5-circle"/>
          <p:cNvSpPr/>
          <p:nvPr/>
        </p:nvSpPr>
        <p:spPr>
          <a:xfrm>
            <a:off x="455371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012" y="5509260"/>
            <a:ext cx="228600" cy="228600"/>
          </a:xfrm>
          <a:prstGeom prst="rect">
            <a:avLst/>
          </a:prstGeom>
        </p:spPr>
      </p:pic>
      <p:sp>
        <p:nvSpPr>
          <p:cNvPr id="29" name="challenge-5-text"/>
          <p:cNvSpPr txBox="1"/>
          <p:nvPr/>
        </p:nvSpPr>
        <p:spPr>
          <a:xfrm>
            <a:off x="512064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</p:txBody>
      </p:sp>
      <p:sp>
        <p:nvSpPr>
          <p:cNvPr id="30" name="stat5-0"/>
          <p:cNvSpPr/>
          <p:nvPr/>
        </p:nvSpPr>
        <p:spPr>
          <a:xfrm>
            <a:off x="6492240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1" name="stat5-0-num"/>
          <p:cNvSpPr txBox="1"/>
          <p:nvPr/>
        </p:nvSpPr>
        <p:spPr>
          <a:xfrm>
            <a:off x="6812280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</a:t>
            </a:r>
            <a:endParaRPr lang="en-US" sz="4400" dirty="0"/>
          </a:p>
        </p:txBody>
      </p:sp>
      <p:sp>
        <p:nvSpPr>
          <p:cNvPr id="32" name="stat5-0-label"/>
          <p:cNvSpPr txBox="1"/>
          <p:nvPr/>
        </p:nvSpPr>
        <p:spPr>
          <a:xfrm>
            <a:off x="6812280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车高负载演示场景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运行 6 × 60 分钟的碰撞次数</a:t>
            </a:r>
            <a:endParaRPr lang="en-US" sz="1300" dirty="0"/>
          </a:p>
        </p:txBody>
      </p:sp>
      <p:sp>
        <p:nvSpPr>
          <p:cNvPr id="33" name="stat5-1"/>
          <p:cNvSpPr/>
          <p:nvPr/>
        </p:nvSpPr>
        <p:spPr>
          <a:xfrm>
            <a:off x="9181948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4" name="stat5-1-num"/>
          <p:cNvSpPr txBox="1"/>
          <p:nvPr/>
        </p:nvSpPr>
        <p:spPr>
          <a:xfrm>
            <a:off x="9501988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105</a:t>
            </a:r>
            <a:endParaRPr lang="en-US" sz="4400" dirty="0"/>
          </a:p>
        </p:txBody>
      </p:sp>
      <p:sp>
        <p:nvSpPr>
          <p:cNvPr id="35" name="stat5-1-label"/>
          <p:cNvSpPr txBox="1"/>
          <p:nvPr/>
        </p:nvSpPr>
        <p:spPr>
          <a:xfrm>
            <a:off x="9501988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项单元测试全部通过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服务端 30、手机 66、Gazebo 9</a:t>
            </a:r>
            <a:endParaRPr lang="en-US" sz="1300" dirty="0"/>
          </a:p>
        </p:txBody>
      </p:sp>
      <p:sp>
        <p:nvSpPr>
          <p:cNvPr id="36" name="stat5-2"/>
          <p:cNvSpPr/>
          <p:nvPr/>
        </p:nvSpPr>
        <p:spPr>
          <a:xfrm>
            <a:off x="6492240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7" name="stat5-2-num"/>
          <p:cNvSpPr txBox="1"/>
          <p:nvPr/>
        </p:nvSpPr>
        <p:spPr>
          <a:xfrm>
            <a:off x="6812280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 s</a:t>
            </a:r>
            <a:endParaRPr lang="en-US" sz="4400" dirty="0"/>
          </a:p>
        </p:txBody>
      </p:sp>
      <p:sp>
        <p:nvSpPr>
          <p:cNvPr id="38" name="stat5-2-label"/>
          <p:cNvSpPr txBox="1"/>
          <p:nvPr/>
        </p:nvSpPr>
        <p:spPr>
          <a:xfrm>
            <a:off x="6812280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断开整个车队后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全部由数字世界接管</a:t>
            </a:r>
            <a:endParaRPr lang="en-US" sz="1300" dirty="0"/>
          </a:p>
        </p:txBody>
      </p:sp>
      <p:sp>
        <p:nvSpPr>
          <p:cNvPr id="39" name="stat5-3"/>
          <p:cNvSpPr/>
          <p:nvPr/>
        </p:nvSpPr>
        <p:spPr>
          <a:xfrm>
            <a:off x="9181948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40" name="stat5-3-num"/>
          <p:cNvSpPr txBox="1"/>
          <p:nvPr/>
        </p:nvSpPr>
        <p:spPr>
          <a:xfrm>
            <a:off x="9501988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 次</a:t>
            </a:r>
            <a:endParaRPr lang="en-US" sz="4400" dirty="0"/>
          </a:p>
        </p:txBody>
      </p:sp>
      <p:sp>
        <p:nvSpPr>
          <p:cNvPr id="41" name="stat5-3-label"/>
          <p:cNvSpPr txBox="1"/>
          <p:nvPr/>
        </p:nvSpPr>
        <p:spPr>
          <a:xfrm>
            <a:off x="9501988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考核中的人工操作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（场景脚本自动触发）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感谢聆听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谢谢！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请老师指正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接下来是现场演示：一键启动，全程无人操作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源码、技术报告、测试与评估数据：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github.com/fuzeliang1/ZongC</a:t>
            </a:r>
            <a:endParaRPr lang="en-US" sz="1300" dirty="0"/>
          </a:p>
        </p:txBody>
      </p:sp>
      <p:pic>
        <p:nvPicPr>
          <p:cNvPr id="6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课程要求完成情况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必做 7 项、挑战 5 项全部完成并经测试验证，手机 App 和 Matlab 车队已实机运行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551657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档次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要求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完成情况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数字世界：≥ 5 辆数字车、随机运输任务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：默认 8 辆可配置，泊松到达订单，完整接送流程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基于最优化的路径规划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：A* 最短路，匈牙利算法全局最优派单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人机交互与动态显示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：2D 实时地图、指标面板、配置与控制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不与静态 / 动态障碍碰撞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：移动授权交通管控，长时间高负载零碰撞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Matlab 模拟车 ≥ 5 辆并与数字车同步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：CI 与本机 MATLAB R2024b 实测，5 车零碰撞、零越权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手机 App：读传感器、无线同步、估计位姿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：真机（vivo S20）走路驾驶，延迟约 34 ms，不越权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整体集成、全自主运行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：一键启动，场景脚本自动触发，断线自动接管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3D 渲染可视化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：自写 WebGL 渲染器，四种视角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环境感知与辅助建图、端云互动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：模拟激光雷达 + 占据栅格；手机拍照、服务端识别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服务端图像处理加速模块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：按行并行，大图加速 1.26~1.41 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挑战（进阶）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Gazebo 中 ≥ 5 辆车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：5 辆差速小车接入，无界面模式零碰撞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挑战（自选）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调度优化与定量评估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：空车调度，配对对比实验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交通管控规则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思路来自铁路的移动闭塞（CBTC）：授权格互不相交，所以任意两车不可能重叠</a:t>
            </a:r>
            <a:endParaRPr lang="en-US" sz="1600" dirty="0"/>
          </a:p>
        </p:txBody>
      </p:sp>
      <p:sp>
        <p:nvSpPr>
          <p:cNvPr id="4" name="rule-0"/>
          <p:cNvSpPr/>
          <p:nvPr/>
        </p:nvSpPr>
        <p:spPr>
          <a:xfrm>
            <a:off x="548640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rule-0-circle"/>
          <p:cNvSpPr/>
          <p:nvPr/>
        </p:nvSpPr>
        <p:spPr>
          <a:xfrm>
            <a:off x="777240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rule-0-num"/>
          <p:cNvSpPr txBox="1"/>
          <p:nvPr/>
        </p:nvSpPr>
        <p:spPr>
          <a:xfrm>
            <a:off x="77724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rule-0-title"/>
          <p:cNvSpPr txBox="1"/>
          <p:nvPr/>
        </p:nvSpPr>
        <p:spPr>
          <a:xfrm>
            <a:off x="1371600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一格一车</a:t>
            </a:r>
            <a:endParaRPr lang="en-US" sz="1600" dirty="0"/>
          </a:p>
        </p:txBody>
      </p:sp>
      <p:sp>
        <p:nvSpPr>
          <p:cNvPr id="8" name="rule-0-text"/>
          <p:cNvSpPr txBox="1"/>
          <p:nvPr/>
        </p:nvSpPr>
        <p:spPr>
          <a:xfrm>
            <a:off x="777240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每个格子同一时刻只属于一辆车：车身覆盖的格子和已授权的前方格子</a:t>
            </a:r>
            <a:endParaRPr lang="en-US" sz="1300" dirty="0"/>
          </a:p>
        </p:txBody>
      </p:sp>
      <p:sp>
        <p:nvSpPr>
          <p:cNvPr id="9" name="rule-1"/>
          <p:cNvSpPr/>
          <p:nvPr/>
        </p:nvSpPr>
        <p:spPr>
          <a:xfrm>
            <a:off x="4338218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rule-1-circle"/>
          <p:cNvSpPr/>
          <p:nvPr/>
        </p:nvSpPr>
        <p:spPr>
          <a:xfrm>
            <a:off x="4566818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rule-1-num"/>
          <p:cNvSpPr txBox="1"/>
          <p:nvPr/>
        </p:nvSpPr>
        <p:spPr>
          <a:xfrm>
            <a:off x="4566818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rule-1-title"/>
          <p:cNvSpPr txBox="1"/>
          <p:nvPr/>
        </p:nvSpPr>
        <p:spPr>
          <a:xfrm>
            <a:off x="5161178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只驶入已授权的格子</a:t>
            </a:r>
            <a:endParaRPr lang="en-US" sz="1600" dirty="0"/>
          </a:p>
        </p:txBody>
      </p:sp>
      <p:sp>
        <p:nvSpPr>
          <p:cNvPr id="13" name="rule-1-text"/>
          <p:cNvSpPr txBox="1"/>
          <p:nvPr/>
        </p:nvSpPr>
        <p:spPr>
          <a:xfrm>
            <a:off x="4566818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在授权终点前留出“车身半径 + 余量”停车，内部车和外部设备都遵守</a:t>
            </a:r>
            <a:endParaRPr lang="en-US" sz="1300" dirty="0"/>
          </a:p>
        </p:txBody>
      </p:sp>
      <p:sp>
        <p:nvSpPr>
          <p:cNvPr id="14" name="rule-2"/>
          <p:cNvSpPr/>
          <p:nvPr/>
        </p:nvSpPr>
        <p:spPr>
          <a:xfrm>
            <a:off x="8127797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rule-2-circle"/>
          <p:cNvSpPr/>
          <p:nvPr/>
        </p:nvSpPr>
        <p:spPr>
          <a:xfrm>
            <a:off x="8356397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rule-2-num"/>
          <p:cNvSpPr txBox="1"/>
          <p:nvPr/>
        </p:nvSpPr>
        <p:spPr>
          <a:xfrm>
            <a:off x="8356397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rule-2-title"/>
          <p:cNvSpPr txBox="1"/>
          <p:nvPr/>
        </p:nvSpPr>
        <p:spPr>
          <a:xfrm>
            <a:off x="8950757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不堵路口</a:t>
            </a:r>
            <a:endParaRPr lang="en-US" sz="1600" dirty="0"/>
          </a:p>
        </p:txBody>
      </p:sp>
      <p:sp>
        <p:nvSpPr>
          <p:cNvPr id="18" name="rule-2-text"/>
          <p:cNvSpPr txBox="1"/>
          <p:nvPr/>
        </p:nvSpPr>
        <p:spPr>
          <a:xfrm>
            <a:off x="8356397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路口整段加出口格必须一次申请到，否则一格也不给</a:t>
            </a:r>
            <a:endParaRPr lang="en-US" sz="1300" dirty="0"/>
          </a:p>
        </p:txBody>
      </p:sp>
      <p:sp>
        <p:nvSpPr>
          <p:cNvPr id="19" name="rule-3"/>
          <p:cNvSpPr/>
          <p:nvPr/>
        </p:nvSpPr>
        <p:spPr>
          <a:xfrm>
            <a:off x="548640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rule-3-circle"/>
          <p:cNvSpPr/>
          <p:nvPr/>
        </p:nvSpPr>
        <p:spPr>
          <a:xfrm>
            <a:off x="777240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rule-3-num"/>
          <p:cNvSpPr txBox="1"/>
          <p:nvPr/>
        </p:nvSpPr>
        <p:spPr>
          <a:xfrm>
            <a:off x="77724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rule-3-title"/>
          <p:cNvSpPr txBox="1"/>
          <p:nvPr/>
        </p:nvSpPr>
        <p:spPr>
          <a:xfrm>
            <a:off x="1371600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公平</a:t>
            </a:r>
            <a:endParaRPr lang="en-US" sz="1600" dirty="0"/>
          </a:p>
        </p:txBody>
      </p:sp>
      <p:sp>
        <p:nvSpPr>
          <p:cNvPr id="23" name="rule-3-text"/>
          <p:cNvSpPr txBox="1"/>
          <p:nvPr/>
        </p:nvSpPr>
        <p:spPr>
          <a:xfrm>
            <a:off x="777240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按受阻时间排序申请；受阻超过 3 s 的车可以先占住它需要的格子</a:t>
            </a:r>
            <a:endParaRPr lang="en-US" sz="1300" dirty="0"/>
          </a:p>
        </p:txBody>
      </p:sp>
      <p:sp>
        <p:nvSpPr>
          <p:cNvPr id="24" name="rule-4"/>
          <p:cNvSpPr/>
          <p:nvPr/>
        </p:nvSpPr>
        <p:spPr>
          <a:xfrm>
            <a:off x="4338218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rule-4-circle"/>
          <p:cNvSpPr/>
          <p:nvPr/>
        </p:nvSpPr>
        <p:spPr>
          <a:xfrm>
            <a:off x="4566818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rule-4-num"/>
          <p:cNvSpPr txBox="1"/>
          <p:nvPr/>
        </p:nvSpPr>
        <p:spPr>
          <a:xfrm>
            <a:off x="4566818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rule-4-title"/>
          <p:cNvSpPr txBox="1"/>
          <p:nvPr/>
        </p:nvSpPr>
        <p:spPr>
          <a:xfrm>
            <a:off x="5161178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绕行</a:t>
            </a:r>
            <a:endParaRPr lang="en-US" sz="1600" dirty="0"/>
          </a:p>
        </p:txBody>
      </p:sp>
      <p:sp>
        <p:nvSpPr>
          <p:cNvPr id="28" name="rule-4-text"/>
          <p:cNvSpPr txBox="1"/>
          <p:nvPr/>
        </p:nvSpPr>
        <p:spPr>
          <a:xfrm>
            <a:off x="4566818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受阻超过 12 s，给挡路的格子加惩罚后重新规划</a:t>
            </a:r>
            <a:endParaRPr lang="en-US" sz="1300" dirty="0"/>
          </a:p>
        </p:txBody>
      </p:sp>
      <p:sp>
        <p:nvSpPr>
          <p:cNvPr id="29" name="rule-5"/>
          <p:cNvSpPr/>
          <p:nvPr/>
        </p:nvSpPr>
        <p:spPr>
          <a:xfrm>
            <a:off x="8127797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rule-5-circle"/>
          <p:cNvSpPr/>
          <p:nvPr/>
        </p:nvSpPr>
        <p:spPr>
          <a:xfrm>
            <a:off x="8356397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rule-5-num"/>
          <p:cNvSpPr txBox="1"/>
          <p:nvPr/>
        </p:nvSpPr>
        <p:spPr>
          <a:xfrm>
            <a:off x="8356397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rule-5-title"/>
          <p:cNvSpPr txBox="1"/>
          <p:nvPr/>
        </p:nvSpPr>
        <p:spPr>
          <a:xfrm>
            <a:off x="8950757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障碍收回授权</a:t>
            </a:r>
            <a:endParaRPr lang="en-US" sz="1600" dirty="0"/>
          </a:p>
        </p:txBody>
      </p:sp>
      <p:sp>
        <p:nvSpPr>
          <p:cNvPr id="33" name="rule-5-text"/>
          <p:cNvSpPr txBox="1"/>
          <p:nvPr/>
        </p:nvSpPr>
        <p:spPr>
          <a:xfrm>
            <a:off x="8356397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路障或感知发现的障碍出现在已授权的格子里时，授权立即收回到它之前</a:t>
            </a:r>
            <a:endParaRPr lang="en-US" sz="1300" dirty="0"/>
          </a:p>
        </p:txBody>
      </p:sp>
      <p:sp>
        <p:nvSpPr>
          <p:cNvPr id="34" name="safety-proof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/>
        </p:spPr>
      </p:sp>
      <p:sp>
        <p:nvSpPr>
          <p:cNvPr id="35" name="safety-proof-text"/>
          <p:cNvSpPr txBox="1"/>
          <p:nvPr/>
        </p:nvSpPr>
        <p:spPr>
          <a:xfrm>
            <a:off x="822960" y="5303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安全性论证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车只在自己的授权格内运动，并在授权边界前留出车身半径 + 余量，所以两车车身不可能重叠；规则 3 保证路口内不会互相卡死，规则 4、5 保证受阻的车最终能通过或绕行。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评估与测试数据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离线仿真做配对比较（同一组种子、完全相同的订单序列），全部实验零碰撞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  <a:gridCol w="524225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项目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设置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结果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派单策略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车，16 单/分，30 分钟 × 3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平均等待 70.4 → 38.6 s（−45%），送达效率 +13%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空车调度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潮汐需求，8 车，30 分钟 × 8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单/分 27.9 → 22.3 s（−20%）；5 单/分 −18%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感知建图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处未知障碍陆续出现、消失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 30.9 s 发现，零误检；停在障碍前 0.08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安全性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车演示场景，60 分钟 × 6 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车车 / 撞墙 / 撞障碍 0 / 0 / 0，最小车距 0.28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图像加速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1280×960 以上的照片，2 核机器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并行加速 1.26~1.41 倍；端到端识别约 30 ms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位姿估计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传感器模拟器，多种握持方式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计步误差 ≤ 1 步；9 m 正方形闭合误差 0.6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单元测试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服务端 / 手机核心 / Gazebo 桥接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 / 66 / 9 项，全部通过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集成测试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辆车 + 手机车，断线、拍照识别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全部通过；断开车队后 0.2 s 内接管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持续集成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Linux / Windows / Android / MATLAB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每次推送自动运行，main 上四组任务全部通过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小组分工与进度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4 人分工明确；第 4 周打通“服务端 + Matlab + 手机”骨架，之后每周在能运行的系统上迭代</a:t>
            </a:r>
            <a:endParaRPr lang="en-US" sz="1600" dirty="0"/>
          </a:p>
        </p:txBody>
      </p:sp>
      <p:sp>
        <p:nvSpPr>
          <p:cNvPr id="4" name="member-0"/>
          <p:cNvSpPr/>
          <p:nvPr/>
        </p:nvSpPr>
        <p:spPr>
          <a:xfrm>
            <a:off x="548640" y="1645920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5" name="member-0-name"/>
          <p:cNvSpPr txBox="1"/>
          <p:nvPr/>
        </p:nvSpPr>
        <p:spPr>
          <a:xfrm>
            <a:off x="77724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阮飞翔（组长）</a:t>
            </a:r>
            <a:endParaRPr lang="en-US" sz="1600" dirty="0"/>
          </a:p>
        </p:txBody>
      </p:sp>
      <p:sp>
        <p:nvSpPr>
          <p:cNvPr id="6" name="member-0-role-pill"/>
          <p:cNvSpPr/>
          <p:nvPr/>
        </p:nvSpPr>
        <p:spPr>
          <a:xfrm>
            <a:off x="3886200" y="17830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member-0-role"/>
          <p:cNvSpPr txBox="1"/>
          <p:nvPr/>
        </p:nvSpPr>
        <p:spPr>
          <a:xfrm>
            <a:off x="3886200" y="17830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架构与调度</a:t>
            </a:r>
            <a:endParaRPr lang="en-US" sz="1200" dirty="0"/>
          </a:p>
        </p:txBody>
      </p:sp>
      <p:sp>
        <p:nvSpPr>
          <p:cNvPr id="8" name="member-0-text"/>
          <p:cNvSpPr txBox="1"/>
          <p:nvPr/>
        </p:nvSpPr>
        <p:spPr>
          <a:xfrm>
            <a:off x="777240" y="2148840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总体架构、接口协议、派单与空车调度、联调；立项与需求文档、报告统稿</a:t>
            </a:r>
            <a:endParaRPr lang="en-US" sz="1300" dirty="0"/>
          </a:p>
        </p:txBody>
      </p:sp>
      <p:sp>
        <p:nvSpPr>
          <p:cNvPr id="9" name="member-1"/>
          <p:cNvSpPr/>
          <p:nvPr/>
        </p:nvSpPr>
        <p:spPr>
          <a:xfrm>
            <a:off x="548640" y="2804922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0" name="member-1-name"/>
          <p:cNvSpPr txBox="1"/>
          <p:nvPr/>
        </p:nvSpPr>
        <p:spPr>
          <a:xfrm>
            <a:off x="777240" y="291465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樊宇泽</a:t>
            </a:r>
            <a:endParaRPr lang="en-US" sz="1600" dirty="0"/>
          </a:p>
        </p:txBody>
      </p:sp>
      <p:sp>
        <p:nvSpPr>
          <p:cNvPr id="11" name="member-1-role-pill"/>
          <p:cNvSpPr/>
          <p:nvPr/>
        </p:nvSpPr>
        <p:spPr>
          <a:xfrm>
            <a:off x="3886200" y="2942082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member-1-role"/>
          <p:cNvSpPr txBox="1"/>
          <p:nvPr/>
        </p:nvSpPr>
        <p:spPr>
          <a:xfrm>
            <a:off x="3886200" y="294208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服务端</a:t>
            </a:r>
            <a:endParaRPr lang="en-US" sz="1200" dirty="0"/>
          </a:p>
        </p:txBody>
      </p:sp>
      <p:sp>
        <p:nvSpPr>
          <p:cNvPr id="13" name="member-1-text"/>
          <p:cNvSpPr txBox="1"/>
          <p:nvPr/>
        </p:nvSpPr>
        <p:spPr>
          <a:xfrm>
            <a:off x="777240" y="3307842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数字世界与交通管控、设备接入、感知建图、图像处理加速；设计文档、测试报告</a:t>
            </a:r>
            <a:endParaRPr lang="en-US" sz="1300" dirty="0"/>
          </a:p>
        </p:txBody>
      </p:sp>
      <p:sp>
        <p:nvSpPr>
          <p:cNvPr id="14" name="member-2"/>
          <p:cNvSpPr/>
          <p:nvPr/>
        </p:nvSpPr>
        <p:spPr>
          <a:xfrm>
            <a:off x="548640" y="3963924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5" name="member-2-name"/>
          <p:cNvSpPr txBox="1"/>
          <p:nvPr/>
        </p:nvSpPr>
        <p:spPr>
          <a:xfrm>
            <a:off x="777240" y="40736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李昊博</a:t>
            </a:r>
            <a:endParaRPr lang="en-US" sz="1600" dirty="0"/>
          </a:p>
        </p:txBody>
      </p:sp>
      <p:sp>
        <p:nvSpPr>
          <p:cNvPr id="16" name="member-2-role-pill"/>
          <p:cNvSpPr/>
          <p:nvPr/>
        </p:nvSpPr>
        <p:spPr>
          <a:xfrm>
            <a:off x="3886200" y="4101084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ember-2-role"/>
          <p:cNvSpPr txBox="1"/>
          <p:nvPr/>
        </p:nvSpPr>
        <p:spPr>
          <a:xfrm>
            <a:off x="3886200" y="41010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控制与可视化</a:t>
            </a:r>
            <a:endParaRPr lang="en-US" sz="1200" dirty="0"/>
          </a:p>
        </p:txBody>
      </p:sp>
      <p:sp>
        <p:nvSpPr>
          <p:cNvPr id="18" name="member-2-text"/>
          <p:cNvSpPr txBox="1"/>
          <p:nvPr/>
        </p:nvSpPr>
        <p:spPr>
          <a:xfrm>
            <a:off x="777240" y="4466844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Matlab 模拟车、2D 界面与 3D 可视化；部署手册、答辩 PPT、演示视频</a:t>
            </a:r>
            <a:endParaRPr lang="en-US" sz="1300" dirty="0"/>
          </a:p>
        </p:txBody>
      </p:sp>
      <p:sp>
        <p:nvSpPr>
          <p:cNvPr id="19" name="member-3"/>
          <p:cNvSpPr/>
          <p:nvPr/>
        </p:nvSpPr>
        <p:spPr>
          <a:xfrm>
            <a:off x="548640" y="5122926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20" name="member-3-name"/>
          <p:cNvSpPr txBox="1"/>
          <p:nvPr/>
        </p:nvSpPr>
        <p:spPr>
          <a:xfrm>
            <a:off x="777240" y="523265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付泽亮</a:t>
            </a:r>
            <a:endParaRPr lang="en-US" sz="1600" dirty="0"/>
          </a:p>
        </p:txBody>
      </p:sp>
      <p:sp>
        <p:nvSpPr>
          <p:cNvPr id="21" name="member-3-role-pill"/>
          <p:cNvSpPr/>
          <p:nvPr/>
        </p:nvSpPr>
        <p:spPr>
          <a:xfrm>
            <a:off x="3886200" y="5260086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member-3-role"/>
          <p:cNvSpPr txBox="1"/>
          <p:nvPr/>
        </p:nvSpPr>
        <p:spPr>
          <a:xfrm>
            <a:off x="3886200" y="526008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移动端与进阶</a:t>
            </a:r>
            <a:endParaRPr lang="en-US" sz="1200" dirty="0"/>
          </a:p>
        </p:txBody>
      </p:sp>
      <p:sp>
        <p:nvSpPr>
          <p:cNvPr id="23" name="member-3-text"/>
          <p:cNvSpPr txBox="1"/>
          <p:nvPr/>
        </p:nvSpPr>
        <p:spPr>
          <a:xfrm>
            <a:off x="777240" y="5625846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安卓 App 与位姿估计、Gazebo 接入；效果评估报告</a:t>
            </a:r>
            <a:endParaRPr lang="en-US" sz="1300" dirty="0"/>
          </a:p>
        </p:txBody>
      </p:sp>
      <p:sp>
        <p:nvSpPr>
          <p:cNvPr id="24" name="gantt-panel"/>
          <p:cNvSpPr/>
          <p:nvPr/>
        </p:nvSpPr>
        <p:spPr>
          <a:xfrm>
            <a:off x="5897880" y="1645920"/>
            <a:ext cx="5745175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25" name="gantt-week-1"/>
          <p:cNvSpPr txBox="1"/>
          <p:nvPr/>
        </p:nvSpPr>
        <p:spPr>
          <a:xfrm>
            <a:off x="768096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</a:t>
            </a:r>
            <a:endParaRPr lang="en-US" sz="1100" dirty="0"/>
          </a:p>
        </p:txBody>
      </p:sp>
      <p:sp>
        <p:nvSpPr>
          <p:cNvPr id="26" name="gantt-week-2"/>
          <p:cNvSpPr txBox="1"/>
          <p:nvPr/>
        </p:nvSpPr>
        <p:spPr>
          <a:xfrm>
            <a:off x="791716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gantt-week-3"/>
          <p:cNvSpPr txBox="1"/>
          <p:nvPr/>
        </p:nvSpPr>
        <p:spPr>
          <a:xfrm>
            <a:off x="815336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gantt-week-4"/>
          <p:cNvSpPr txBox="1"/>
          <p:nvPr/>
        </p:nvSpPr>
        <p:spPr>
          <a:xfrm>
            <a:off x="838956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gantt-week-5"/>
          <p:cNvSpPr txBox="1"/>
          <p:nvPr/>
        </p:nvSpPr>
        <p:spPr>
          <a:xfrm>
            <a:off x="862576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gantt-week-6"/>
          <p:cNvSpPr txBox="1"/>
          <p:nvPr/>
        </p:nvSpPr>
        <p:spPr>
          <a:xfrm>
            <a:off x="8861965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</a:t>
            </a:r>
            <a:endParaRPr lang="en-US" sz="1100" dirty="0"/>
          </a:p>
        </p:txBody>
      </p:sp>
      <p:sp>
        <p:nvSpPr>
          <p:cNvPr id="31" name="gantt-week-7"/>
          <p:cNvSpPr txBox="1"/>
          <p:nvPr/>
        </p:nvSpPr>
        <p:spPr>
          <a:xfrm>
            <a:off x="9098166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gantt-week-8"/>
          <p:cNvSpPr txBox="1"/>
          <p:nvPr/>
        </p:nvSpPr>
        <p:spPr>
          <a:xfrm>
            <a:off x="9334367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</a:t>
            </a:r>
            <a:endParaRPr lang="en-US" sz="1100" dirty="0"/>
          </a:p>
        </p:txBody>
      </p:sp>
      <p:sp>
        <p:nvSpPr>
          <p:cNvPr id="33" name="gantt-week-9"/>
          <p:cNvSpPr txBox="1"/>
          <p:nvPr/>
        </p:nvSpPr>
        <p:spPr>
          <a:xfrm>
            <a:off x="9570568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</a:t>
            </a:r>
            <a:endParaRPr lang="en-US" sz="1100" dirty="0"/>
          </a:p>
        </p:txBody>
      </p:sp>
      <p:sp>
        <p:nvSpPr>
          <p:cNvPr id="34" name="gantt-week-10"/>
          <p:cNvSpPr txBox="1"/>
          <p:nvPr/>
        </p:nvSpPr>
        <p:spPr>
          <a:xfrm>
            <a:off x="9806769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</a:t>
            </a:r>
            <a:endParaRPr lang="en-US" sz="1100" dirty="0"/>
          </a:p>
        </p:txBody>
      </p:sp>
      <p:sp>
        <p:nvSpPr>
          <p:cNvPr id="35" name="gantt-week-11"/>
          <p:cNvSpPr txBox="1"/>
          <p:nvPr/>
        </p:nvSpPr>
        <p:spPr>
          <a:xfrm>
            <a:off x="100429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11</a:t>
            </a:r>
            <a:endParaRPr lang="en-US" sz="1100" dirty="0"/>
          </a:p>
        </p:txBody>
      </p:sp>
      <p:sp>
        <p:nvSpPr>
          <p:cNvPr id="36" name="gantt-week-12"/>
          <p:cNvSpPr txBox="1"/>
          <p:nvPr/>
        </p:nvSpPr>
        <p:spPr>
          <a:xfrm>
            <a:off x="102791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</a:t>
            </a:r>
            <a:endParaRPr lang="en-US" sz="1100" dirty="0"/>
          </a:p>
        </p:txBody>
      </p:sp>
      <p:sp>
        <p:nvSpPr>
          <p:cNvPr id="37" name="gantt-week-13"/>
          <p:cNvSpPr txBox="1"/>
          <p:nvPr/>
        </p:nvSpPr>
        <p:spPr>
          <a:xfrm>
            <a:off x="1051537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</a:t>
            </a:r>
            <a:endParaRPr lang="en-US" sz="1100" dirty="0"/>
          </a:p>
        </p:txBody>
      </p:sp>
      <p:sp>
        <p:nvSpPr>
          <p:cNvPr id="38" name="gantt-week-14"/>
          <p:cNvSpPr txBox="1"/>
          <p:nvPr/>
        </p:nvSpPr>
        <p:spPr>
          <a:xfrm>
            <a:off x="1075157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14</a:t>
            </a:r>
            <a:endParaRPr lang="en-US" sz="1100" dirty="0"/>
          </a:p>
        </p:txBody>
      </p:sp>
      <p:sp>
        <p:nvSpPr>
          <p:cNvPr id="39" name="gantt-week-15"/>
          <p:cNvSpPr txBox="1"/>
          <p:nvPr/>
        </p:nvSpPr>
        <p:spPr>
          <a:xfrm>
            <a:off x="1098777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15</a:t>
            </a:r>
            <a:endParaRPr lang="en-US" sz="1100" dirty="0"/>
          </a:p>
        </p:txBody>
      </p:sp>
      <p:sp>
        <p:nvSpPr>
          <p:cNvPr id="40" name="gantt-week-16"/>
          <p:cNvSpPr txBox="1"/>
          <p:nvPr/>
        </p:nvSpPr>
        <p:spPr>
          <a:xfrm>
            <a:off x="1122397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</a:t>
            </a:r>
            <a:endParaRPr lang="en-US" sz="1100" dirty="0"/>
          </a:p>
        </p:txBody>
      </p:sp>
      <p:sp>
        <p:nvSpPr>
          <p:cNvPr id="41" name="gantt-week-label"/>
          <p:cNvSpPr txBox="1"/>
          <p:nvPr/>
        </p:nvSpPr>
        <p:spPr>
          <a:xfrm>
            <a:off x="608076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周次</a:t>
            </a:r>
            <a:endParaRPr lang="en-US" sz="1100" dirty="0"/>
          </a:p>
        </p:txBody>
      </p:sp>
      <p:sp>
        <p:nvSpPr>
          <p:cNvPr id="42" name="gantt-phase-0"/>
          <p:cNvSpPr txBox="1"/>
          <p:nvPr/>
        </p:nvSpPr>
        <p:spPr>
          <a:xfrm>
            <a:off x="6080760" y="21945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立项与设计</a:t>
            </a:r>
            <a:endParaRPr lang="en-US" sz="1300" dirty="0"/>
          </a:p>
        </p:txBody>
      </p:sp>
      <p:sp>
        <p:nvSpPr>
          <p:cNvPr id="43" name="gantt-bar-0"/>
          <p:cNvSpPr/>
          <p:nvPr/>
        </p:nvSpPr>
        <p:spPr>
          <a:xfrm>
            <a:off x="7708392" y="2313432"/>
            <a:ext cx="653739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4" name="gantt-phase-1"/>
          <p:cNvSpPr txBox="1"/>
          <p:nvPr/>
        </p:nvSpPr>
        <p:spPr>
          <a:xfrm>
            <a:off x="6080760" y="26700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打通骨架</a:t>
            </a:r>
            <a:endParaRPr lang="en-US" sz="1300" dirty="0"/>
          </a:p>
        </p:txBody>
      </p:sp>
      <p:sp>
        <p:nvSpPr>
          <p:cNvPr id="45" name="gantt-bar-1"/>
          <p:cNvSpPr/>
          <p:nvPr/>
        </p:nvSpPr>
        <p:spPr>
          <a:xfrm>
            <a:off x="8180794" y="2788920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6" name="gantt-phase-2"/>
          <p:cNvSpPr txBox="1"/>
          <p:nvPr/>
        </p:nvSpPr>
        <p:spPr>
          <a:xfrm>
            <a:off x="6080760" y="31455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完成必做</a:t>
            </a:r>
            <a:endParaRPr lang="en-US" sz="1300" dirty="0"/>
          </a:p>
        </p:txBody>
      </p:sp>
      <p:sp>
        <p:nvSpPr>
          <p:cNvPr id="47" name="gantt-bar-2"/>
          <p:cNvSpPr/>
          <p:nvPr/>
        </p:nvSpPr>
        <p:spPr>
          <a:xfrm>
            <a:off x="8653196" y="3264408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8" name="gantt-phase-3"/>
          <p:cNvSpPr txBox="1"/>
          <p:nvPr/>
        </p:nvSpPr>
        <p:spPr>
          <a:xfrm>
            <a:off x="6080760" y="362102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冲优（挑战项）</a:t>
            </a:r>
            <a:endParaRPr lang="en-US" sz="1300" dirty="0"/>
          </a:p>
        </p:txBody>
      </p:sp>
      <p:sp>
        <p:nvSpPr>
          <p:cNvPr id="49" name="gantt-bar-3"/>
          <p:cNvSpPr/>
          <p:nvPr/>
        </p:nvSpPr>
        <p:spPr>
          <a:xfrm>
            <a:off x="9598000" y="3739896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1"/>
          </a:solidFill>
          <a:ln/>
        </p:spPr>
      </p:sp>
      <p:sp>
        <p:nvSpPr>
          <p:cNvPr id="50" name="gantt-phase-4"/>
          <p:cNvSpPr txBox="1"/>
          <p:nvPr/>
        </p:nvSpPr>
        <p:spPr>
          <a:xfrm>
            <a:off x="6080760" y="40965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加固与评估</a:t>
            </a:r>
            <a:endParaRPr lang="en-US" sz="1300" dirty="0"/>
          </a:p>
        </p:txBody>
      </p:sp>
      <p:sp>
        <p:nvSpPr>
          <p:cNvPr id="51" name="gantt-bar-4"/>
          <p:cNvSpPr/>
          <p:nvPr/>
        </p:nvSpPr>
        <p:spPr>
          <a:xfrm>
            <a:off x="10542803" y="4215384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2" name="gantt-phase-5"/>
          <p:cNvSpPr txBox="1"/>
          <p:nvPr/>
        </p:nvSpPr>
        <p:spPr>
          <a:xfrm>
            <a:off x="6080760" y="45720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收尾与答辩</a:t>
            </a:r>
            <a:endParaRPr lang="en-US" sz="1300" dirty="0"/>
          </a:p>
        </p:txBody>
      </p:sp>
      <p:sp>
        <p:nvSpPr>
          <p:cNvPr id="53" name="gantt-bar-5"/>
          <p:cNvSpPr/>
          <p:nvPr/>
        </p:nvSpPr>
        <p:spPr>
          <a:xfrm>
            <a:off x="11015205" y="4690872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4" name="gantt-milestone-label"/>
          <p:cNvSpPr txBox="1"/>
          <p:nvPr/>
        </p:nvSpPr>
        <p:spPr>
          <a:xfrm>
            <a:off x="608076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里程碑</a:t>
            </a:r>
            <a:endParaRPr lang="en-US" sz="1300" dirty="0"/>
          </a:p>
        </p:txBody>
      </p:sp>
      <p:sp>
        <p:nvSpPr>
          <p:cNvPr id="55" name="gantt-milestone-0"/>
          <p:cNvSpPr/>
          <p:nvPr/>
        </p:nvSpPr>
        <p:spPr>
          <a:xfrm>
            <a:off x="8361359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6" name="gantt-milestone-0-text"/>
          <p:cNvSpPr txBox="1"/>
          <p:nvPr/>
        </p:nvSpPr>
        <p:spPr>
          <a:xfrm>
            <a:off x="7959023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4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全系统联调</a:t>
            </a:r>
            <a:endParaRPr lang="en-US" sz="1200" dirty="0"/>
          </a:p>
        </p:txBody>
      </p:sp>
      <p:sp>
        <p:nvSpPr>
          <p:cNvPr id="57" name="gantt-milestone-1"/>
          <p:cNvSpPr/>
          <p:nvPr/>
        </p:nvSpPr>
        <p:spPr>
          <a:xfrm>
            <a:off x="9306163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8" name="gantt-milestone-1-text"/>
          <p:cNvSpPr txBox="1"/>
          <p:nvPr/>
        </p:nvSpPr>
        <p:spPr>
          <a:xfrm>
            <a:off x="8903827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8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中期检查</a:t>
            </a:r>
            <a:endParaRPr lang="en-US" sz="1200" dirty="0"/>
          </a:p>
        </p:txBody>
      </p:sp>
      <p:sp>
        <p:nvSpPr>
          <p:cNvPr id="59" name="gantt-milestone-2"/>
          <p:cNvSpPr/>
          <p:nvPr/>
        </p:nvSpPr>
        <p:spPr>
          <a:xfrm>
            <a:off x="11195771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60" name="gantt-milestone-2-text"/>
          <p:cNvSpPr txBox="1"/>
          <p:nvPr/>
        </p:nvSpPr>
        <p:spPr>
          <a:xfrm>
            <a:off x="10362895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16 周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期末答辩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633"/>
      </a:dk1>
      <a:lt1>
        <a:srgbClr val="FFFFFF"/>
      </a:lt1>
      <a:dk2>
        <a:srgbClr val="566173"/>
      </a:dk2>
      <a:lt2>
        <a:srgbClr val="F2F4F7"/>
      </a:lt2>
      <a:accent1>
        <a:srgbClr val="F26B1D"/>
      </a:accent1>
      <a:accent2>
        <a:srgbClr val="0F9488"/>
      </a:accent2>
      <a:accent3>
        <a:srgbClr val="27406B"/>
      </a:accent3>
      <a:accent4>
        <a:srgbClr val="FDE3D0"/>
      </a:accent4>
      <a:accent5>
        <a:srgbClr val="B5BDC9"/>
      </a:accent5>
      <a:accent6>
        <a:srgbClr val="DDF1EE"/>
      </a:accent6>
      <a:hlink>
        <a:srgbClr val="27406B"/>
      </a:hlink>
      <a:folHlink>
        <a:srgbClr val="566173"/>
      </a:folHlink>
    </a:clrScheme>
    <a:fontScheme name="MiniDiDi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2026-10-28T13:47:54Z</dcterms:created>
  <dcterms:modified xsi:type="dcterms:W3CDTF">2026-10-28T13:47:54Z</dcterms:modified>
</cp:coreProperties>
</file>