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4dcf46f-f96d-0b90-7bad-b5c1e8548534}">
          <p14:sldIdLst>
            <p14:sldId id="256"/>
          </p14:sldIdLst>
        </p14:section>
        <p14:section name="正文" id="{8abe2e13-8b0d-f879-063a-8f05a5c85d62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cf4f30ae-31c2-f752-8868-966b55375843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3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732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73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A58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Matlab 和 Gazebo 小车都是数字孪生：服务端下发路线和授权停车点 stopS，设备用纯追踪跟踪路线，速度上限保证总能在停车点前刹住。服务端把真实世界和系统认知分开：场景脚本放出的施工围挡系统一开始并不知道，要靠每辆车的模拟激光雷达发现。命中点并入占据栅格，确认后写入全局地图，收回经过它的授权，车辆重规划或掉头；障碍消失后也会被自动撤掉。Gazebo 里 5 辆物理小车接入后同样零碰撞——我们发现并补偿了里程计延迟和执行滞后，否则车会越过停车点 8 厘米。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手机是数字世界里的行人。App 用加速度计步、Weinberg 模型估步长、陀螺仪积分航向，再按比例尺换算成地图坐标，每秒上报 10 次——教室里收不到卫星，走 1 米可以当地图上 5 米。行人走进某辆车的授权格，车会立刻停下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分钟，碰撞全部为零；103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缩微滴滴：多智能体无人出租车系统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MiniDiDi · 综合设计与实践 C 期末答辩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第 ___ 组　组长 ______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组员 ______　______　______　______</a:t>
            </a:r>
            <a:endParaRPr lang="en-US" sz="1200" dirty="0"/>
          </a:p>
        </p:txBody>
      </p:sp>
      <p:pic>
        <p:nvPicPr>
          <p:cNvPr id="5" name="cover-3d" descr="3D 视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  <p:sp>
        <p:nvSpPr>
          <p:cNvPr id="6" name="cover-tagline"/>
          <p:cNvSpPr txBox="1"/>
          <p:nvPr/>
        </p:nvSpPr>
        <p:spPr>
          <a:xfrm>
            <a:off x="5257800" y="33832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城市里有人叫车，“系统超脑”派车、规划路径、管控交通；Matlab、手机、Gazebo 小车都是它的数字孪生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系统总体：一个超脑，四类设备，同一套协议</a:t>
            </a:r>
            <a:endParaRPr lang="en-US" sz="2600" dirty="0"/>
          </a:p>
        </p:txBody>
      </p:sp>
      <p:sp>
        <p:nvSpPr>
          <p:cNvPr id="3" name="device-0"/>
          <p:cNvSpPr/>
          <p:nvPr/>
        </p:nvSpPr>
        <p:spPr>
          <a:xfrm>
            <a:off x="45720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vice-0-circle"/>
          <p:cNvSpPr/>
          <p:nvPr/>
        </p:nvSpPr>
        <p:spPr>
          <a:xfrm>
            <a:off x="59436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343436"/>
            <a:ext cx="275783" cy="275783"/>
          </a:xfrm>
          <a:prstGeom prst="rect">
            <a:avLst/>
          </a:prstGeom>
        </p:spPr>
      </p:pic>
      <p:sp>
        <p:nvSpPr>
          <p:cNvPr id="6" name="device-0-text"/>
          <p:cNvSpPr txBox="1"/>
          <p:nvPr/>
        </p:nvSpPr>
        <p:spPr>
          <a:xfrm>
            <a:off x="123444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2D/3D 网页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HTTP 8080</a:t>
            </a:r>
            <a:endParaRPr lang="en-US" sz="1300" dirty="0"/>
          </a:p>
        </p:txBody>
      </p:sp>
      <p:sp>
        <p:nvSpPr>
          <p:cNvPr id="7" name="device-0-link"/>
          <p:cNvSpPr/>
          <p:nvPr/>
        </p:nvSpPr>
        <p:spPr>
          <a:xfrm>
            <a:off x="141732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8" name="device-1"/>
          <p:cNvSpPr/>
          <p:nvPr/>
        </p:nvSpPr>
        <p:spPr>
          <a:xfrm>
            <a:off x="256032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evice-1-circle"/>
          <p:cNvSpPr/>
          <p:nvPr/>
        </p:nvSpPr>
        <p:spPr>
          <a:xfrm>
            <a:off x="269748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64" y="1343436"/>
            <a:ext cx="275783" cy="275783"/>
          </a:xfrm>
          <a:prstGeom prst="rect">
            <a:avLst/>
          </a:prstGeom>
        </p:spPr>
      </p:pic>
      <p:sp>
        <p:nvSpPr>
          <p:cNvPr id="11" name="device-1-text"/>
          <p:cNvSpPr txBox="1"/>
          <p:nvPr/>
        </p:nvSpPr>
        <p:spPr>
          <a:xfrm>
            <a:off x="333756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9000</a:t>
            </a:r>
            <a:endParaRPr lang="en-US" sz="1300" dirty="0"/>
          </a:p>
        </p:txBody>
      </p:sp>
      <p:sp>
        <p:nvSpPr>
          <p:cNvPr id="12" name="device-1-link"/>
          <p:cNvSpPr/>
          <p:nvPr/>
        </p:nvSpPr>
        <p:spPr>
          <a:xfrm>
            <a:off x="352044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device-2"/>
          <p:cNvSpPr/>
          <p:nvPr/>
        </p:nvSpPr>
        <p:spPr>
          <a:xfrm>
            <a:off x="466344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evice-2-circle"/>
          <p:cNvSpPr/>
          <p:nvPr/>
        </p:nvSpPr>
        <p:spPr>
          <a:xfrm>
            <a:off x="480060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884" y="1343436"/>
            <a:ext cx="275783" cy="275783"/>
          </a:xfrm>
          <a:prstGeom prst="rect">
            <a:avLst/>
          </a:prstGeom>
        </p:spPr>
      </p:pic>
      <p:sp>
        <p:nvSpPr>
          <p:cNvPr id="16" name="device-2-text"/>
          <p:cNvSpPr txBox="1"/>
          <p:nvPr/>
        </p:nvSpPr>
        <p:spPr>
          <a:xfrm>
            <a:off x="544068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安卓手机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+ HTTP</a:t>
            </a:r>
            <a:endParaRPr lang="en-US" sz="1300" dirty="0"/>
          </a:p>
        </p:txBody>
      </p:sp>
      <p:sp>
        <p:nvSpPr>
          <p:cNvPr id="17" name="device-2-link"/>
          <p:cNvSpPr/>
          <p:nvPr/>
        </p:nvSpPr>
        <p:spPr>
          <a:xfrm>
            <a:off x="562356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8" name="device-3"/>
          <p:cNvSpPr/>
          <p:nvPr/>
        </p:nvSpPr>
        <p:spPr>
          <a:xfrm>
            <a:off x="676656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vice-3-circle"/>
          <p:cNvSpPr/>
          <p:nvPr/>
        </p:nvSpPr>
        <p:spPr>
          <a:xfrm>
            <a:off x="690372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004" y="1343436"/>
            <a:ext cx="275783" cy="275783"/>
          </a:xfrm>
          <a:prstGeom prst="rect">
            <a:avLst/>
          </a:prstGeom>
        </p:spPr>
      </p:pic>
      <p:sp>
        <p:nvSpPr>
          <p:cNvPr id="21" name="device-3-text"/>
          <p:cNvSpPr txBox="1"/>
          <p:nvPr/>
        </p:nvSpPr>
        <p:spPr>
          <a:xfrm>
            <a:off x="754380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ROS 2 桥接</a:t>
            </a:r>
            <a:endParaRPr lang="en-US" sz="1300" dirty="0"/>
          </a:p>
        </p:txBody>
      </p:sp>
      <p:sp>
        <p:nvSpPr>
          <p:cNvPr id="22" name="device-3-link"/>
          <p:cNvSpPr/>
          <p:nvPr/>
        </p:nvSpPr>
        <p:spPr>
          <a:xfrm>
            <a:off x="772668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3" name="server"/>
          <p:cNvSpPr/>
          <p:nvPr/>
        </p:nvSpPr>
        <p:spPr>
          <a:xfrm>
            <a:off x="457200" y="221284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server-text"/>
          <p:cNvSpPr txBox="1"/>
          <p:nvPr/>
        </p:nvSpPr>
        <p:spPr>
          <a:xfrm>
            <a:off x="685800" y="225856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数字世界服务端（Java 17，只依赖 Gson）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 Hz 单线程仿真 · 派单 · A* 规划 · 交通管控 · 感知建图 · 图像识别 · 场景脚本</a:t>
            </a:r>
            <a:endParaRPr lang="en-US" sz="1500" dirty="0"/>
          </a:p>
        </p:txBody>
      </p:sp>
      <p:sp>
        <p:nvSpPr>
          <p:cNvPr id="25" name="pillar-0"/>
          <p:cNvSpPr/>
          <p:nvPr/>
        </p:nvSpPr>
        <p:spPr>
          <a:xfrm>
            <a:off x="45720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pillar-0-circle"/>
          <p:cNvSpPr/>
          <p:nvPr/>
        </p:nvSpPr>
        <p:spPr>
          <a:xfrm>
            <a:off x="62179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30168"/>
            <a:ext cx="237744" cy="237744"/>
          </a:xfrm>
          <a:prstGeom prst="rect">
            <a:avLst/>
          </a:prstGeom>
        </p:spPr>
      </p:pic>
      <p:sp>
        <p:nvSpPr>
          <p:cNvPr id="28" name="pillar-0-title"/>
          <p:cNvSpPr txBox="1"/>
          <p:nvPr/>
        </p:nvSpPr>
        <p:spPr>
          <a:xfrm>
            <a:off x="118872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零碰撞由机制保证</a:t>
            </a:r>
            <a:endParaRPr lang="en-US" sz="1400" dirty="0"/>
          </a:p>
        </p:txBody>
      </p:sp>
      <p:sp>
        <p:nvSpPr>
          <p:cNvPr id="29" name="pillar-0-text"/>
          <p:cNvSpPr txBox="1"/>
          <p:nvPr/>
        </p:nvSpPr>
        <p:spPr>
          <a:xfrm>
            <a:off x="62179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格子预约 + 移动授权：任意两车的授权格互不相交</a:t>
            </a:r>
            <a:endParaRPr lang="en-US" sz="1100" dirty="0"/>
          </a:p>
        </p:txBody>
      </p:sp>
      <p:sp>
        <p:nvSpPr>
          <p:cNvPr id="30" name="pillar-1"/>
          <p:cNvSpPr/>
          <p:nvPr/>
        </p:nvSpPr>
        <p:spPr>
          <a:xfrm>
            <a:off x="324612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pillar-1-circle"/>
          <p:cNvSpPr/>
          <p:nvPr/>
        </p:nvSpPr>
        <p:spPr>
          <a:xfrm>
            <a:off x="341071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3630168"/>
            <a:ext cx="237744" cy="237744"/>
          </a:xfrm>
          <a:prstGeom prst="rect">
            <a:avLst/>
          </a:prstGeom>
        </p:spPr>
      </p:pic>
      <p:sp>
        <p:nvSpPr>
          <p:cNvPr id="33" name="pillar-1-title"/>
          <p:cNvSpPr txBox="1"/>
          <p:nvPr/>
        </p:nvSpPr>
        <p:spPr>
          <a:xfrm>
            <a:off x="397764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断线自动接管</a:t>
            </a:r>
            <a:endParaRPr lang="en-US" sz="1400" dirty="0"/>
          </a:p>
        </p:txBody>
      </p:sp>
      <p:sp>
        <p:nvSpPr>
          <p:cNvPr id="34" name="pillar-1-text"/>
          <p:cNvSpPr txBox="1"/>
          <p:nvPr/>
        </p:nvSpPr>
        <p:spPr>
          <a:xfrm>
            <a:off x="341071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设备 3 s 无消息，内部仿真接手，系统不停摆</a:t>
            </a:r>
            <a:endParaRPr lang="en-US" sz="1100" dirty="0"/>
          </a:p>
        </p:txBody>
      </p:sp>
      <p:sp>
        <p:nvSpPr>
          <p:cNvPr id="35" name="pillar-2"/>
          <p:cNvSpPr/>
          <p:nvPr/>
        </p:nvSpPr>
        <p:spPr>
          <a:xfrm>
            <a:off x="603504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illar-2-circle"/>
          <p:cNvSpPr/>
          <p:nvPr/>
        </p:nvSpPr>
        <p:spPr>
          <a:xfrm>
            <a:off x="619963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630168"/>
            <a:ext cx="237744" cy="237744"/>
          </a:xfrm>
          <a:prstGeom prst="rect">
            <a:avLst/>
          </a:prstGeom>
        </p:spPr>
      </p:pic>
      <p:sp>
        <p:nvSpPr>
          <p:cNvPr id="38" name="pillar-2-title"/>
          <p:cNvSpPr txBox="1"/>
          <p:nvPr/>
        </p:nvSpPr>
        <p:spPr>
          <a:xfrm>
            <a:off x="67665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全自主运行</a:t>
            </a:r>
            <a:endParaRPr lang="en-US" sz="1400" dirty="0"/>
          </a:p>
        </p:txBody>
      </p:sp>
      <p:sp>
        <p:nvSpPr>
          <p:cNvPr id="39" name="pillar-2-text"/>
          <p:cNvSpPr txBox="1"/>
          <p:nvPr/>
        </p:nvSpPr>
        <p:spPr>
          <a:xfrm>
            <a:off x="619963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一键启动；场景脚本按时间自动触发全部演示情节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数字世界与调度：最优化让饱和时的等车时间少 45%</a:t>
            </a:r>
            <a:endParaRPr lang="en-US" sz="2600" dirty="0"/>
          </a:p>
        </p:txBody>
      </p:sp>
      <p:sp>
        <p:nvSpPr>
          <p:cNvPr id="3" name="algo-0"/>
          <p:cNvSpPr/>
          <p:nvPr/>
        </p:nvSpPr>
        <p:spPr>
          <a:xfrm>
            <a:off x="457200" y="109728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lgo-0-circle"/>
          <p:cNvSpPr/>
          <p:nvPr/>
        </p:nvSpPr>
        <p:spPr>
          <a:xfrm>
            <a:off x="621792" y="1344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1475842"/>
            <a:ext cx="285293" cy="285293"/>
          </a:xfrm>
          <a:prstGeom prst="rect">
            <a:avLst/>
          </a:prstGeom>
        </p:spPr>
      </p:pic>
      <p:sp>
        <p:nvSpPr>
          <p:cNvPr id="6" name="algo-0-text"/>
          <p:cNvSpPr txBox="1"/>
          <p:nvPr/>
        </p:nvSpPr>
        <p:spPr>
          <a:xfrm>
            <a:off x="1325880" y="11704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A* 路径规划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状态 = 格子 + 驶入方向，遵守车道、禁止原地掉头；被堵死时借对向车道掉头</a:t>
            </a:r>
            <a:endParaRPr lang="en-US" sz="1400" dirty="0"/>
          </a:p>
        </p:txBody>
      </p:sp>
      <p:sp>
        <p:nvSpPr>
          <p:cNvPr id="7" name="algo-1"/>
          <p:cNvSpPr/>
          <p:nvPr/>
        </p:nvSpPr>
        <p:spPr>
          <a:xfrm>
            <a:off x="457200" y="228600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lgo-1-circle"/>
          <p:cNvSpPr/>
          <p:nvPr/>
        </p:nvSpPr>
        <p:spPr>
          <a:xfrm>
            <a:off x="621792" y="25328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2664562"/>
            <a:ext cx="285293" cy="285293"/>
          </a:xfrm>
          <a:prstGeom prst="rect">
            <a:avLst/>
          </a:prstGeom>
        </p:spPr>
      </p:pic>
      <p:sp>
        <p:nvSpPr>
          <p:cNvPr id="10" name="algo-1-text"/>
          <p:cNvSpPr txBox="1"/>
          <p:nvPr/>
        </p:nvSpPr>
        <p:spPr>
          <a:xfrm>
            <a:off x="1325880" y="235915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匈牙利算法派单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 2 s 求“空车 × 订单”全局最优匹配，代价 = 接驾距离 − 等待时间权重</a:t>
            </a:r>
            <a:endParaRPr lang="en-US" sz="1400" dirty="0"/>
          </a:p>
        </p:txBody>
      </p:sp>
      <p:sp>
        <p:nvSpPr>
          <p:cNvPr id="11" name="algo-2"/>
          <p:cNvSpPr/>
          <p:nvPr/>
        </p:nvSpPr>
        <p:spPr>
          <a:xfrm>
            <a:off x="457200" y="347472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lgo-2-circle"/>
          <p:cNvSpPr/>
          <p:nvPr/>
        </p:nvSpPr>
        <p:spPr>
          <a:xfrm>
            <a:off x="621792" y="37216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6" y="3853282"/>
            <a:ext cx="285293" cy="285293"/>
          </a:xfrm>
          <a:prstGeom prst="rect">
            <a:avLst/>
          </a:prstGeom>
        </p:spPr>
      </p:pic>
      <p:sp>
        <p:nvSpPr>
          <p:cNvPr id="14" name="algo-2-text"/>
          <p:cNvSpPr txBox="1"/>
          <p:nvPr/>
        </p:nvSpPr>
        <p:spPr>
          <a:xfrm>
            <a:off x="1325880" y="354787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分区需求预测（τ = 180 s 衰减），把多余空车提前调往缺车区域</a:t>
            </a:r>
            <a:endParaRPr lang="en-US" sz="1400" dirty="0"/>
          </a:p>
        </p:txBody>
      </p:sp>
      <p:graphicFrame>
        <p:nvGraphicFramePr>
          <p:cNvPr id="15" name="dispatch-chart" descr=""/>
          <p:cNvGraphicFramePr/>
          <p:nvPr/>
        </p:nvGraphicFramePr>
        <p:xfrm>
          <a:off x="4617720" y="1051560"/>
          <a:ext cx="4069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stat2-0-num"/>
          <p:cNvSpPr txBox="1"/>
          <p:nvPr/>
        </p:nvSpPr>
        <p:spPr>
          <a:xfrm>
            <a:off x="461772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−45%</a:t>
            </a:r>
            <a:endParaRPr lang="en-US" sz="3000" dirty="0"/>
          </a:p>
        </p:txBody>
      </p:sp>
      <p:sp>
        <p:nvSpPr>
          <p:cNvPr id="17" name="stat2-0-label"/>
          <p:cNvSpPr txBox="1"/>
          <p:nvPr/>
        </p:nvSpPr>
        <p:spPr>
          <a:xfrm>
            <a:off x="461772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接近饱和时平均等待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（匈牙利 vs 贪心）</a:t>
            </a:r>
            <a:endParaRPr lang="en-US" sz="1050" dirty="0"/>
          </a:p>
        </p:txBody>
      </p:sp>
      <p:sp>
        <p:nvSpPr>
          <p:cNvPr id="18" name="stat2-1-num"/>
          <p:cNvSpPr txBox="1"/>
          <p:nvPr/>
        </p:nvSpPr>
        <p:spPr>
          <a:xfrm>
            <a:off x="672084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−20%</a:t>
            </a:r>
            <a:endParaRPr lang="en-US" sz="3000" dirty="0"/>
          </a:p>
        </p:txBody>
      </p:sp>
      <p:sp>
        <p:nvSpPr>
          <p:cNvPr id="19" name="stat2-1-label"/>
          <p:cNvSpPr txBox="1"/>
          <p:nvPr/>
        </p:nvSpPr>
        <p:spPr>
          <a:xfrm>
            <a:off x="672084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潮汐需求下开启空车调度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（4 单/分，8 个种子配对）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孪生车与感知避障：授权保证安全，感知发现未知</a:t>
            </a:r>
            <a:endParaRPr lang="en-US" sz="2600" dirty="0"/>
          </a:p>
        </p:txBody>
      </p:sp>
      <p:pic>
        <p:nvPicPr>
          <p:cNvPr id="3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2857500"/>
          </a:xfrm>
          <a:prstGeom prst="rect">
            <a:avLst/>
          </a:prstGeom>
        </p:spPr>
      </p:pic>
      <p:sp>
        <p:nvSpPr>
          <p:cNvPr id="4" name="overview-caption"/>
          <p:cNvSpPr txBox="1"/>
          <p:nvPr/>
        </p:nvSpPr>
        <p:spPr>
          <a:xfrm>
            <a:off x="45720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050" dirty="0"/>
          </a:p>
        </p:txBody>
      </p:sp>
      <p:sp>
        <p:nvSpPr>
          <p:cNvPr id="5" name="twin-0"/>
          <p:cNvSpPr/>
          <p:nvPr/>
        </p:nvSpPr>
        <p:spPr>
          <a:xfrm>
            <a:off x="5257800" y="105156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win-0-circle"/>
          <p:cNvSpPr/>
          <p:nvPr/>
        </p:nvSpPr>
        <p:spPr>
          <a:xfrm>
            <a:off x="5394960" y="131673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win-0-icon" descr="twin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661" y="1437437"/>
            <a:ext cx="261518" cy="261518"/>
          </a:xfrm>
          <a:prstGeom prst="rect">
            <a:avLst/>
          </a:prstGeom>
        </p:spPr>
      </p:pic>
      <p:sp>
        <p:nvSpPr>
          <p:cNvPr id="8" name="twin-0-text"/>
          <p:cNvSpPr txBox="1"/>
          <p:nvPr/>
        </p:nvSpPr>
        <p:spPr>
          <a:xfrm>
            <a:off x="6035040" y="110642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/ Gazebo 孪生车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服务端下发路线和停车点 stopS，设备纯追踪执行，速度 v ≤ √(2a·(stopS − s))</a:t>
            </a:r>
            <a:endParaRPr lang="en-US" sz="1300" dirty="0"/>
          </a:p>
        </p:txBody>
      </p:sp>
      <p:sp>
        <p:nvSpPr>
          <p:cNvPr id="9" name="twin-1"/>
          <p:cNvSpPr/>
          <p:nvPr/>
        </p:nvSpPr>
        <p:spPr>
          <a:xfrm>
            <a:off x="5257800" y="224028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win-1-circle"/>
          <p:cNvSpPr/>
          <p:nvPr/>
        </p:nvSpPr>
        <p:spPr>
          <a:xfrm>
            <a:off x="5394960" y="25054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win-1-icon" descr="tw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661" y="2626157"/>
            <a:ext cx="261518" cy="261518"/>
          </a:xfrm>
          <a:prstGeom prst="rect">
            <a:avLst/>
          </a:prstGeom>
        </p:spPr>
      </p:pic>
      <p:sp>
        <p:nvSpPr>
          <p:cNvPr id="12" name="twin-1-text"/>
          <p:cNvSpPr txBox="1"/>
          <p:nvPr/>
        </p:nvSpPr>
        <p:spPr>
          <a:xfrm>
            <a:off x="6035040" y="229514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模拟激光雷达 + 占据栅格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48 束 × 3 m × 10 Hz；确认后写入全局地图、收回授权、掉头绕行；平均 30.9 s 发现、零误检</a:t>
            </a:r>
            <a:endParaRPr lang="en-US" sz="1300" dirty="0"/>
          </a:p>
        </p:txBody>
      </p:sp>
      <p:sp>
        <p:nvSpPr>
          <p:cNvPr id="13" name="twin-2"/>
          <p:cNvSpPr/>
          <p:nvPr/>
        </p:nvSpPr>
        <p:spPr>
          <a:xfrm>
            <a:off x="5257800" y="342900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win-2-circle"/>
          <p:cNvSpPr/>
          <p:nvPr/>
        </p:nvSpPr>
        <p:spPr>
          <a:xfrm>
            <a:off x="5394960" y="36941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twin-2-icon" descr="twin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3814877"/>
            <a:ext cx="261518" cy="261518"/>
          </a:xfrm>
          <a:prstGeom prst="rect">
            <a:avLst/>
          </a:prstGeom>
        </p:spPr>
      </p:pic>
      <p:sp>
        <p:nvSpPr>
          <p:cNvPr id="16" name="twin-2-text"/>
          <p:cNvSpPr txBox="1"/>
          <p:nvPr/>
        </p:nvSpPr>
        <p:spPr>
          <a:xfrm>
            <a:off x="6035040" y="348386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物理小车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5 车 240 s：碰撞 0、越权 0，补偿里程计延迟后越过停车点 0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手机与端云互动：人也是数字世界里的智能体</a:t>
            </a:r>
            <a:endParaRPr lang="en-US" sz="2600" dirty="0"/>
          </a:p>
        </p:txBody>
      </p:sp>
      <p:sp>
        <p:nvSpPr>
          <p:cNvPr id="3" name="pdr-label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惯性元件估计位姿（行人航位推算），10 Hz 上报地图坐标</a:t>
            </a:r>
            <a:endParaRPr lang="en-US" sz="1300" dirty="0"/>
          </a:p>
        </p:txBody>
      </p:sp>
      <p:sp>
        <p:nvSpPr>
          <p:cNvPr id="4" name="pdr-step-0"/>
          <p:cNvSpPr/>
          <p:nvPr/>
        </p:nvSpPr>
        <p:spPr>
          <a:xfrm>
            <a:off x="45720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dr-step-0-text"/>
          <p:cNvSpPr txBox="1"/>
          <p:nvPr/>
        </p:nvSpPr>
        <p:spPr>
          <a:xfrm>
            <a:off x="51206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加速度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计步</a:t>
            </a:r>
            <a:endParaRPr lang="en-US" sz="1100" dirty="0"/>
          </a:p>
        </p:txBody>
      </p:sp>
      <p:sp>
        <p:nvSpPr>
          <p:cNvPr id="6" name="pdr-arrow-0"/>
          <p:cNvSpPr/>
          <p:nvPr/>
        </p:nvSpPr>
        <p:spPr>
          <a:xfrm>
            <a:off x="159334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pdr-step-1"/>
          <p:cNvSpPr/>
          <p:nvPr/>
        </p:nvSpPr>
        <p:spPr>
          <a:xfrm>
            <a:off x="179451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dr-step-1-text"/>
          <p:cNvSpPr txBox="1"/>
          <p:nvPr/>
        </p:nvSpPr>
        <p:spPr>
          <a:xfrm>
            <a:off x="184937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Weinberg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步长</a:t>
            </a:r>
            <a:endParaRPr lang="en-US" sz="1100" dirty="0"/>
          </a:p>
        </p:txBody>
      </p:sp>
      <p:sp>
        <p:nvSpPr>
          <p:cNvPr id="9" name="pdr-arrow-1"/>
          <p:cNvSpPr/>
          <p:nvPr/>
        </p:nvSpPr>
        <p:spPr>
          <a:xfrm>
            <a:off x="293065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pdr-step-2"/>
          <p:cNvSpPr/>
          <p:nvPr/>
        </p:nvSpPr>
        <p:spPr>
          <a:xfrm>
            <a:off x="313182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dr-step-2-text"/>
          <p:cNvSpPr txBox="1"/>
          <p:nvPr/>
        </p:nvSpPr>
        <p:spPr>
          <a:xfrm>
            <a:off x="318668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陀螺仪航向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零偏估计</a:t>
            </a:r>
            <a:endParaRPr lang="en-US" sz="1100" dirty="0"/>
          </a:p>
        </p:txBody>
      </p:sp>
      <p:sp>
        <p:nvSpPr>
          <p:cNvPr id="12" name="pdr-arrow-2"/>
          <p:cNvSpPr/>
          <p:nvPr/>
        </p:nvSpPr>
        <p:spPr>
          <a:xfrm>
            <a:off x="426796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pdr-step-3"/>
          <p:cNvSpPr/>
          <p:nvPr/>
        </p:nvSpPr>
        <p:spPr>
          <a:xfrm>
            <a:off x="446913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pdr-step-3-text"/>
          <p:cNvSpPr txBox="1"/>
          <p:nvPr/>
        </p:nvSpPr>
        <p:spPr>
          <a:xfrm>
            <a:off x="452399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比例尺换算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地图坐标</a:t>
            </a:r>
            <a:endParaRPr lang="en-US" sz="1100" dirty="0"/>
          </a:p>
        </p:txBody>
      </p:sp>
      <p:sp>
        <p:nvSpPr>
          <p:cNvPr id="15" name="vision-label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300" dirty="0"/>
          </a:p>
        </p:txBody>
      </p:sp>
      <p:sp>
        <p:nvSpPr>
          <p:cNvPr id="16" name="vision-step-0"/>
          <p:cNvSpPr/>
          <p:nvPr/>
        </p:nvSpPr>
        <p:spPr>
          <a:xfrm>
            <a:off x="45720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ision-step-0-text"/>
          <p:cNvSpPr txBox="1"/>
          <p:nvPr/>
        </p:nvSpPr>
        <p:spPr>
          <a:xfrm>
            <a:off x="51206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手机拍照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上传</a:t>
            </a:r>
            <a:endParaRPr lang="en-US" sz="1100" dirty="0"/>
          </a:p>
        </p:txBody>
      </p:sp>
      <p:sp>
        <p:nvSpPr>
          <p:cNvPr id="18" name="vision-arrow-0"/>
          <p:cNvSpPr/>
          <p:nvPr/>
        </p:nvSpPr>
        <p:spPr>
          <a:xfrm>
            <a:off x="159334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vision-step-1"/>
          <p:cNvSpPr/>
          <p:nvPr/>
        </p:nvSpPr>
        <p:spPr>
          <a:xfrm>
            <a:off x="179451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vision-step-1-text"/>
          <p:cNvSpPr txBox="1"/>
          <p:nvPr/>
        </p:nvSpPr>
        <p:spPr>
          <a:xfrm>
            <a:off x="184937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HSV 分割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连通域</a:t>
            </a:r>
            <a:endParaRPr lang="en-US" sz="1100" dirty="0"/>
          </a:p>
        </p:txBody>
      </p:sp>
      <p:sp>
        <p:nvSpPr>
          <p:cNvPr id="21" name="vision-arrow-1"/>
          <p:cNvSpPr/>
          <p:nvPr/>
        </p:nvSpPr>
        <p:spPr>
          <a:xfrm>
            <a:off x="293065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vision-step-2"/>
          <p:cNvSpPr/>
          <p:nvPr/>
        </p:nvSpPr>
        <p:spPr>
          <a:xfrm>
            <a:off x="313182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vision-step-2-text"/>
          <p:cNvSpPr txBox="1"/>
          <p:nvPr/>
        </p:nvSpPr>
        <p:spPr>
          <a:xfrm>
            <a:off x="318668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针孔模型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测距落格</a:t>
            </a:r>
            <a:endParaRPr lang="en-US" sz="1100" dirty="0"/>
          </a:p>
        </p:txBody>
      </p:sp>
      <p:sp>
        <p:nvSpPr>
          <p:cNvPr id="24" name="vision-arrow-2"/>
          <p:cNvSpPr/>
          <p:nvPr/>
        </p:nvSpPr>
        <p:spPr>
          <a:xfrm>
            <a:off x="426796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vision-step-3"/>
          <p:cNvSpPr/>
          <p:nvPr/>
        </p:nvSpPr>
        <p:spPr>
          <a:xfrm>
            <a:off x="446913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vision-step-3-text"/>
          <p:cNvSpPr txBox="1"/>
          <p:nvPr/>
        </p:nvSpPr>
        <p:spPr>
          <a:xfrm>
            <a:off x="452399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写入地图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车辆绕行</a:t>
            </a:r>
            <a:endParaRPr lang="en-US" sz="1100" dirty="0"/>
          </a:p>
        </p:txBody>
      </p:sp>
      <p:sp>
        <p:nvSpPr>
          <p:cNvPr id="27" name="stat4-0-num"/>
          <p:cNvSpPr txBox="1"/>
          <p:nvPr/>
        </p:nvSpPr>
        <p:spPr>
          <a:xfrm>
            <a:off x="45720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≤ 1 步</a:t>
            </a:r>
            <a:endParaRPr lang="en-US" sz="2600" dirty="0"/>
          </a:p>
        </p:txBody>
      </p:sp>
      <p:sp>
        <p:nvSpPr>
          <p:cNvPr id="28" name="stat4-0-label"/>
          <p:cNvSpPr txBox="1"/>
          <p:nvPr/>
        </p:nvSpPr>
        <p:spPr>
          <a:xfrm>
            <a:off x="4572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计步误差（多种握持）</a:t>
            </a:r>
            <a:endParaRPr lang="en-US" sz="1050" dirty="0"/>
          </a:p>
        </p:txBody>
      </p:sp>
      <p:sp>
        <p:nvSpPr>
          <p:cNvPr id="29" name="stat4-1-num"/>
          <p:cNvSpPr txBox="1"/>
          <p:nvPr/>
        </p:nvSpPr>
        <p:spPr>
          <a:xfrm>
            <a:off x="224028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1.7%</a:t>
            </a:r>
            <a:endParaRPr lang="en-US" sz="2600" dirty="0"/>
          </a:p>
        </p:txBody>
      </p:sp>
      <p:sp>
        <p:nvSpPr>
          <p:cNvPr id="30" name="stat4-1-label"/>
          <p:cNvSpPr txBox="1"/>
          <p:nvPr/>
        </p:nvSpPr>
        <p:spPr>
          <a:xfrm>
            <a:off x="22402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9 m 正方形闭合误差</a:t>
            </a:r>
            <a:endParaRPr lang="en-US" sz="1050" dirty="0"/>
          </a:p>
        </p:txBody>
      </p:sp>
      <p:sp>
        <p:nvSpPr>
          <p:cNvPr id="31" name="stat4-2-num"/>
          <p:cNvSpPr txBox="1"/>
          <p:nvPr/>
        </p:nvSpPr>
        <p:spPr>
          <a:xfrm>
            <a:off x="402336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1.4×</a:t>
            </a:r>
            <a:endParaRPr lang="en-US" sz="2600" dirty="0"/>
          </a:p>
        </p:txBody>
      </p:sp>
      <p:sp>
        <p:nvSpPr>
          <p:cNvPr id="32" name="stat4-2-label"/>
          <p:cNvSpPr txBox="1"/>
          <p:nvPr/>
        </p:nvSpPr>
        <p:spPr>
          <a:xfrm>
            <a:off x="40233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大图并行加速（2 核）</a:t>
            </a:r>
            <a:endParaRPr lang="en-US" sz="1050" dirty="0"/>
          </a:p>
        </p:txBody>
      </p:sp>
      <p:pic>
        <p:nvPicPr>
          <p:cNvPr id="33" name="phone-minimap" descr="手机 App 小地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80360" cy="1645920"/>
          </a:xfrm>
          <a:prstGeom prst="rect">
            <a:avLst/>
          </a:prstGeom>
        </p:spPr>
      </p:pic>
      <p:sp>
        <p:nvSpPr>
          <p:cNvPr id="34" name="phone-walk-circle"/>
          <p:cNvSpPr/>
          <p:nvPr/>
        </p:nvSpPr>
        <p:spPr>
          <a:xfrm>
            <a:off x="580644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phone-walk-icon" descr="phone-wal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127248"/>
            <a:ext cx="237744" cy="237744"/>
          </a:xfrm>
          <a:prstGeom prst="rect">
            <a:avLst/>
          </a:prstGeom>
        </p:spPr>
      </p:pic>
      <p:sp>
        <p:nvSpPr>
          <p:cNvPr id="36" name="phone-yield"/>
          <p:cNvSpPr txBox="1"/>
          <p:nvPr/>
        </p:nvSpPr>
        <p:spPr>
          <a:xfrm>
            <a:off x="6400800" y="2971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行人走到车前，服务端立即收回这辆车的授权，车停在行人前；人离开后继续行驶</a:t>
            </a:r>
            <a:endParaRPr lang="en-US" sz="1100" dirty="0"/>
          </a:p>
        </p:txBody>
      </p:sp>
      <p:sp>
        <p:nvSpPr>
          <p:cNvPr id="37" name="phone-hail-circle"/>
          <p:cNvSpPr/>
          <p:nvPr/>
        </p:nvSpPr>
        <p:spPr>
          <a:xfrm>
            <a:off x="5806440" y="3794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phone-hail-icon" descr="phone-h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3904488"/>
            <a:ext cx="237744" cy="237744"/>
          </a:xfrm>
          <a:prstGeom prst="rect">
            <a:avLst/>
          </a:prstGeom>
        </p:spPr>
      </p:pic>
      <p:sp>
        <p:nvSpPr>
          <p:cNvPr id="39" name="phone-hail-text"/>
          <p:cNvSpPr txBox="1"/>
          <p:nvPr/>
        </p:nvSpPr>
        <p:spPr>
          <a:xfrm>
            <a:off x="6400800" y="3749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在小地图上点目的地即可叫车，订单与普通订单一样被派出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挑战亮点与评估：高负载运行 6 小时零碰撞</a:t>
            </a:r>
            <a:endParaRPr lang="en-US" sz="2600" dirty="0"/>
          </a:p>
        </p:txBody>
      </p:sp>
      <p:pic>
        <p:nvPicPr>
          <p:cNvPr id="3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1247242"/>
          </a:xfrm>
          <a:prstGeom prst="rect">
            <a:avLst/>
          </a:prstGeom>
        </p:spPr>
      </p:pic>
      <p:sp>
        <p:nvSpPr>
          <p:cNvPr id="4" name="gazebo-caption"/>
          <p:cNvSpPr txBox="1"/>
          <p:nvPr/>
        </p:nvSpPr>
        <p:spPr>
          <a:xfrm>
            <a:off x="457200" y="2359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Gazebo Harmonic 中的 5 辆差速小车（ROS 2 桥接）</a:t>
            </a:r>
            <a:endParaRPr lang="en-US" sz="1050" dirty="0"/>
          </a:p>
        </p:txBody>
      </p:sp>
      <p:sp>
        <p:nvSpPr>
          <p:cNvPr id="5" name="challenge-0"/>
          <p:cNvSpPr/>
          <p:nvPr/>
        </p:nvSpPr>
        <p:spPr>
          <a:xfrm>
            <a:off x="4572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allenge-0-circle"/>
          <p:cNvSpPr/>
          <p:nvPr/>
        </p:nvSpPr>
        <p:spPr>
          <a:xfrm>
            <a:off x="5486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3105302"/>
            <a:ext cx="190195" cy="190195"/>
          </a:xfrm>
          <a:prstGeom prst="rect">
            <a:avLst/>
          </a:prstGeom>
        </p:spPr>
      </p:pic>
      <p:sp>
        <p:nvSpPr>
          <p:cNvPr id="8" name="challenge-0-text"/>
          <p:cNvSpPr txBox="1"/>
          <p:nvPr/>
        </p:nvSpPr>
        <p:spPr>
          <a:xfrm>
            <a:off x="9875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3D 可视化</a:t>
            </a:r>
            <a:endParaRPr lang="en-US" sz="1100" dirty="0"/>
          </a:p>
        </p:txBody>
      </p:sp>
      <p:sp>
        <p:nvSpPr>
          <p:cNvPr id="9" name="challenge-1"/>
          <p:cNvSpPr/>
          <p:nvPr/>
        </p:nvSpPr>
        <p:spPr>
          <a:xfrm>
            <a:off x="18288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hallenge-1-circle"/>
          <p:cNvSpPr/>
          <p:nvPr/>
        </p:nvSpPr>
        <p:spPr>
          <a:xfrm>
            <a:off x="19202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022" y="3105302"/>
            <a:ext cx="190195" cy="190195"/>
          </a:xfrm>
          <a:prstGeom prst="rect">
            <a:avLst/>
          </a:prstGeom>
        </p:spPr>
      </p:pic>
      <p:sp>
        <p:nvSpPr>
          <p:cNvPr id="12" name="challenge-1-text"/>
          <p:cNvSpPr txBox="1"/>
          <p:nvPr/>
        </p:nvSpPr>
        <p:spPr>
          <a:xfrm>
            <a:off x="2359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感知建图</a:t>
            </a:r>
            <a:endParaRPr lang="en-US" sz="1100" dirty="0"/>
          </a:p>
        </p:txBody>
      </p:sp>
      <p:sp>
        <p:nvSpPr>
          <p:cNvPr id="13" name="challenge-2"/>
          <p:cNvSpPr/>
          <p:nvPr/>
        </p:nvSpPr>
        <p:spPr>
          <a:xfrm>
            <a:off x="32004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hallenge-2-circle"/>
          <p:cNvSpPr/>
          <p:nvPr/>
        </p:nvSpPr>
        <p:spPr>
          <a:xfrm>
            <a:off x="32918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622" y="3105302"/>
            <a:ext cx="190195" cy="190195"/>
          </a:xfrm>
          <a:prstGeom prst="rect">
            <a:avLst/>
          </a:prstGeom>
        </p:spPr>
      </p:pic>
      <p:sp>
        <p:nvSpPr>
          <p:cNvPr id="16" name="challenge-2-text"/>
          <p:cNvSpPr txBox="1"/>
          <p:nvPr/>
        </p:nvSpPr>
        <p:spPr>
          <a:xfrm>
            <a:off x="37307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端云互动</a:t>
            </a:r>
            <a:endParaRPr lang="en-US" sz="1100" dirty="0"/>
          </a:p>
        </p:txBody>
      </p:sp>
      <p:sp>
        <p:nvSpPr>
          <p:cNvPr id="17" name="challenge-3"/>
          <p:cNvSpPr/>
          <p:nvPr/>
        </p:nvSpPr>
        <p:spPr>
          <a:xfrm>
            <a:off x="4572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hallenge-3-circle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" y="3973982"/>
            <a:ext cx="190195" cy="190195"/>
          </a:xfrm>
          <a:prstGeom prst="rect">
            <a:avLst/>
          </a:prstGeom>
        </p:spPr>
      </p:pic>
      <p:sp>
        <p:nvSpPr>
          <p:cNvPr id="20" name="challenge-3-text"/>
          <p:cNvSpPr txBox="1"/>
          <p:nvPr/>
        </p:nvSpPr>
        <p:spPr>
          <a:xfrm>
            <a:off x="9875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图像加速</a:t>
            </a:r>
            <a:endParaRPr lang="en-US" sz="1100" dirty="0"/>
          </a:p>
        </p:txBody>
      </p:sp>
      <p:sp>
        <p:nvSpPr>
          <p:cNvPr id="21" name="challenge-4"/>
          <p:cNvSpPr/>
          <p:nvPr/>
        </p:nvSpPr>
        <p:spPr>
          <a:xfrm>
            <a:off x="18288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hallenge-4-circle"/>
          <p:cNvSpPr/>
          <p:nvPr/>
        </p:nvSpPr>
        <p:spPr>
          <a:xfrm>
            <a:off x="19202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8022" y="3973982"/>
            <a:ext cx="190195" cy="190195"/>
          </a:xfrm>
          <a:prstGeom prst="rect">
            <a:avLst/>
          </a:prstGeom>
        </p:spPr>
      </p:pic>
      <p:sp>
        <p:nvSpPr>
          <p:cNvPr id="24" name="challenge-4-text"/>
          <p:cNvSpPr txBox="1"/>
          <p:nvPr/>
        </p:nvSpPr>
        <p:spPr>
          <a:xfrm>
            <a:off x="23591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Gazebo</a:t>
            </a:r>
            <a:endParaRPr lang="en-US" sz="1100" dirty="0"/>
          </a:p>
        </p:txBody>
      </p:sp>
      <p:sp>
        <p:nvSpPr>
          <p:cNvPr id="25" name="challenge-5"/>
          <p:cNvSpPr/>
          <p:nvPr/>
        </p:nvSpPr>
        <p:spPr>
          <a:xfrm>
            <a:off x="32004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hallenge-5-circle"/>
          <p:cNvSpPr/>
          <p:nvPr/>
        </p:nvSpPr>
        <p:spPr>
          <a:xfrm>
            <a:off x="32918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9622" y="3973982"/>
            <a:ext cx="190195" cy="190195"/>
          </a:xfrm>
          <a:prstGeom prst="rect">
            <a:avLst/>
          </a:prstGeom>
        </p:spPr>
      </p:pic>
      <p:sp>
        <p:nvSpPr>
          <p:cNvPr id="28" name="challenge-5-text"/>
          <p:cNvSpPr txBox="1"/>
          <p:nvPr/>
        </p:nvSpPr>
        <p:spPr>
          <a:xfrm>
            <a:off x="37307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空车调度</a:t>
            </a:r>
            <a:endParaRPr lang="en-US" sz="1100" dirty="0"/>
          </a:p>
        </p:txBody>
      </p:sp>
      <p:sp>
        <p:nvSpPr>
          <p:cNvPr id="29" name="stat5-0"/>
          <p:cNvSpPr/>
          <p:nvPr/>
        </p:nvSpPr>
        <p:spPr>
          <a:xfrm>
            <a:off x="470916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tat5-0-num"/>
          <p:cNvSpPr txBox="1"/>
          <p:nvPr/>
        </p:nvSpPr>
        <p:spPr>
          <a:xfrm>
            <a:off x="484632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</a:t>
            </a:r>
            <a:endParaRPr lang="en-US" sz="3200" dirty="0"/>
          </a:p>
        </p:txBody>
      </p:sp>
      <p:sp>
        <p:nvSpPr>
          <p:cNvPr id="31" name="stat5-0-label"/>
          <p:cNvSpPr txBox="1"/>
          <p:nvPr/>
        </p:nvSpPr>
        <p:spPr>
          <a:xfrm>
            <a:off x="484632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车辆碰撞：16 车高负载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运行 6 × 60 分钟</a:t>
            </a:r>
            <a:endParaRPr lang="en-US" sz="1100" dirty="0"/>
          </a:p>
        </p:txBody>
      </p:sp>
      <p:sp>
        <p:nvSpPr>
          <p:cNvPr id="32" name="stat5-1"/>
          <p:cNvSpPr/>
          <p:nvPr/>
        </p:nvSpPr>
        <p:spPr>
          <a:xfrm>
            <a:off x="672084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at5-1-num"/>
          <p:cNvSpPr txBox="1"/>
          <p:nvPr/>
        </p:nvSpPr>
        <p:spPr>
          <a:xfrm>
            <a:off x="685800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103</a:t>
            </a:r>
            <a:endParaRPr lang="en-US" sz="3200" dirty="0"/>
          </a:p>
        </p:txBody>
      </p:sp>
      <p:sp>
        <p:nvSpPr>
          <p:cNvPr id="34" name="stat5-1-label"/>
          <p:cNvSpPr txBox="1"/>
          <p:nvPr/>
        </p:nvSpPr>
        <p:spPr>
          <a:xfrm>
            <a:off x="685800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项单元测试全部通过</a:t>
            </a:r>
            <a:endParaRPr lang="en-US" sz="1100" dirty="0"/>
          </a:p>
        </p:txBody>
      </p:sp>
      <p:sp>
        <p:nvSpPr>
          <p:cNvPr id="35" name="stat5-2"/>
          <p:cNvSpPr/>
          <p:nvPr/>
        </p:nvSpPr>
        <p:spPr>
          <a:xfrm>
            <a:off x="470916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stat5-2-num"/>
          <p:cNvSpPr txBox="1"/>
          <p:nvPr/>
        </p:nvSpPr>
        <p:spPr>
          <a:xfrm>
            <a:off x="484632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0.2 s</a:t>
            </a:r>
            <a:endParaRPr lang="en-US" sz="3200" dirty="0"/>
          </a:p>
        </p:txBody>
      </p:sp>
      <p:sp>
        <p:nvSpPr>
          <p:cNvPr id="37" name="stat5-2-label"/>
          <p:cNvSpPr txBox="1"/>
          <p:nvPr/>
        </p:nvSpPr>
        <p:spPr>
          <a:xfrm>
            <a:off x="484632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断开车队后全部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由数字世界接管</a:t>
            </a:r>
            <a:endParaRPr lang="en-US" sz="1100" dirty="0"/>
          </a:p>
        </p:txBody>
      </p:sp>
      <p:sp>
        <p:nvSpPr>
          <p:cNvPr id="38" name="stat5-3"/>
          <p:cNvSpPr/>
          <p:nvPr/>
        </p:nvSpPr>
        <p:spPr>
          <a:xfrm>
            <a:off x="672084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tat5-3-num"/>
          <p:cNvSpPr txBox="1"/>
          <p:nvPr/>
        </p:nvSpPr>
        <p:spPr>
          <a:xfrm>
            <a:off x="685800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 次</a:t>
            </a:r>
            <a:endParaRPr lang="en-US" sz="3200" dirty="0"/>
          </a:p>
        </p:txBody>
      </p:sp>
      <p:sp>
        <p:nvSpPr>
          <p:cNvPr id="40" name="stat5-3-label"/>
          <p:cNvSpPr txBox="1"/>
          <p:nvPr/>
        </p:nvSpPr>
        <p:spPr>
          <a:xfrm>
            <a:off x="685800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考核中的人工操作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（场景脚本自动触发）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谢谢！请老师指正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现场演示：一键启动，全程无人操作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源码、技术报告、测试与评估数据：gitee 私有库 ______</a:t>
            </a:r>
            <a:endParaRPr lang="en-US" sz="1200" dirty="0"/>
          </a:p>
        </p:txBody>
      </p:sp>
      <p:pic>
        <p:nvPicPr>
          <p:cNvPr id="5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732"/>
      </a:dk1>
      <a:lt1>
        <a:srgbClr val="FFFFFF"/>
      </a:lt1>
      <a:dk2>
        <a:srgbClr val="4A5866"/>
      </a:dk2>
      <a:lt2>
        <a:srgbClr val="EEF1F4"/>
      </a:lt2>
      <a:accent1>
        <a:srgbClr val="F2B705"/>
      </a:accent1>
      <a:accent2>
        <a:srgbClr val="1B998B"/>
      </a:accent2>
      <a:accent3>
        <a:srgbClr val="E4572E"/>
      </a:accent3>
      <a:accent4>
        <a:srgbClr val="5B7083"/>
      </a:accent4>
      <a:accent5>
        <a:srgbClr val="9AA5B1"/>
      </a:accent5>
      <a:accent6>
        <a:srgbClr val="2E86AB"/>
      </a:accent6>
      <a:hlink>
        <a:srgbClr val="2E86AB"/>
      </a:hlink>
      <a:folHlink>
        <a:srgbClr val="5B7083"/>
      </a:folHlink>
    </a:clrScheme>
    <a:fontScheme name="MiniDiDi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2026-10-24T08:36:57Z</dcterms:created>
  <dcterms:modified xsi:type="dcterms:W3CDTF">2026-10-24T08:36:57Z</dcterms:modified>
</cp:coreProperties>
</file>